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93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42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89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688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7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47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77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2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63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956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1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7F5EA-B6C4-43BB-BFA5-D8543FAFCE2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DE14F-377E-452E-90D1-EBAECB7F3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51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0291" y="949569"/>
            <a:ext cx="1113692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ctr">
              <a:lnSpc>
                <a:spcPct val="150000"/>
              </a:lnSpc>
              <a:spcAft>
                <a:spcPts val="0"/>
              </a:spcAft>
            </a:pPr>
            <a:r>
              <a:rPr lang="en-US" sz="32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endParaRPr lang="ru-RU" sz="3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  <a:spcAft>
                <a:spcPts val="0"/>
              </a:spcAft>
            </a:pPr>
            <a:r>
              <a:rPr lang="en-US" sz="32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3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ctr">
              <a:lnSpc>
                <a:spcPct val="150000"/>
              </a:lnSpc>
              <a:spcAft>
                <a:spcPts val="0"/>
              </a:spcAft>
            </a:pPr>
            <a:r>
              <a:rPr lang="en-US" sz="32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Reja</a:t>
            </a:r>
            <a:r>
              <a:rPr lang="en-US" sz="32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3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32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Umumiy</a:t>
            </a: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ma’lumotlar</a:t>
            </a: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vazifalari</a:t>
            </a: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3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32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Sidirg’a</a:t>
            </a: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tishli</a:t>
            </a: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3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Zanjirli</a:t>
            </a:r>
            <a:r>
              <a:rPr lang="en-US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elastic </a:t>
            </a:r>
            <a:r>
              <a:rPr lang="en-US" sz="28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vtulka-barmoqli</a:t>
            </a:r>
            <a:r>
              <a:rPr lang="en-US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8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800" i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4,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Gidromufta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88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8545" y="184727"/>
            <a:ext cx="11432131" cy="6552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just">
              <a:lnSpc>
                <a:spcPct val="150000"/>
              </a:lnSpc>
              <a:spcAft>
                <a:spcPts val="0"/>
              </a:spcAft>
            </a:pP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Texnikada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sterjen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elektr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simlari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kabi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detallarning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uchlarini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bir-biriga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ulash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xizmat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qiladigan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vositalarni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deyiladi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faqat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uchini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bir-biri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ulaydigan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tanishib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chiqamiz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Xuddi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muftalarning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tishli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g’ildiraklar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shkivlar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kabi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detallarni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valga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o’rnatilgan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xolida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ularning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uchini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bir-biri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ulashga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xizmat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22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Muftalar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turlarga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bo’linadi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boshqarilmaydigan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boshqariladigan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o’z-o’zini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boshqaruvchi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avto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atik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Boshqarilmaydigan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muftalar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navbatida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doimiy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biriktirilgan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kompensatsiyalovchi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notekisliklarni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to’g’rilovchi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saqlagich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muftalarga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bo’linadi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Doimiy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biriktirilgan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muftalar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markazlanib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o’qdosh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xoliga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keltirilgan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vallarning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uchlarini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o’zaro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ulash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vallarni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uchlari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markazlanib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o’qdosh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xolda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bo’lmaydi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bunga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detallarni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tayyorlashdagi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yig’ma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birlikni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xosil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montaj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ishlarini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bajarishdagi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notekisliklardir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  <a:spcAft>
                <a:spcPts val="0"/>
              </a:spcAft>
            </a:pP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45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1600" y="138545"/>
            <a:ext cx="11258061" cy="6633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just">
              <a:lnSpc>
                <a:spcPct val="150000"/>
              </a:lnSpc>
              <a:spcAft>
                <a:spcPts val="0"/>
              </a:spcAft>
            </a:pP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notekisliklarni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to’g’rilash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Kompensatsiyalovchi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muftalar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o’z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navbatida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qo’zg’aluvchan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elastik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muftalarga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bo’linadi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Elastik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muftalar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o’z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elemenlari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bikrlikka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bo’g’in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vazifasini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mashinalarni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rezonans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zonaga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kirmasdan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ta’minlaydi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tebranishdan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saqlab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qoladi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Saqlagich</a:t>
            </a:r>
            <a:r>
              <a:rPr lang="en-US" sz="2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o’ta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yuklanish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avariya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xollari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ro’y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berganda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mashina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mexanizmlarini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sinib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ketishdan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saqlaydi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  <a:spcAft>
                <a:spcPts val="0"/>
              </a:spcAft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Boshqariluvchi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vallarga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joylashtirilgan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detallarni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o’zaro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birlashtirish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ajratish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xizmat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Bunday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jarayonlar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qo’zg’almas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vallarda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aylanib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turgan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vaqtda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bajarilishi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Boshqariladigan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element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turiga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qarab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bunday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mexanikli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elektr</a:t>
            </a: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magnitli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gidravlik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pnevmatik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siqilgan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xavo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)li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bo’lishi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  <a:spcAft>
                <a:spcPts val="0"/>
              </a:spcAft>
            </a:pP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o’zini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boshqaruvchi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avtomatik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vallarga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joylashtirilgan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detallarni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ishlash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jarayoniga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tezligiga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aylanish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yo’nalishiga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qarab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o’zaro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biriktirish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ajratish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xizmat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95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56137" y="668215"/>
            <a:ext cx="1069144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ctr">
              <a:lnSpc>
                <a:spcPct val="150000"/>
              </a:lnSpc>
              <a:spcAft>
                <a:spcPts val="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Doimiy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biriktirilgan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endParaRPr lang="ru-RU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spcAft>
                <a:spcPts val="0"/>
              </a:spcAf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Doimiy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biriktirilgan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qo’zg’almas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turkimiga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vallarni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o’zaro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biriktirish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qo’zg’almas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birikmalar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bajariladi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ularni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aniqlik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markazlashtirish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lozim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Doimiy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biriktirilgan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muftalarning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oddiysi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vtulka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ko’rinishidagi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bo’lib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uchiga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vtulka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kiritiladi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(1</a:t>
            </a:r>
            <a:r>
              <a:rPr lang="uz-Cyrl-UZ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.1-a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rasm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shponka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</a:t>
            </a:r>
            <a:r>
              <a:rPr lang="uz-Cyrl-UZ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.1-b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rasm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shlitslar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vositasida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qo’zg’almas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maxkamlab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qo’yiladi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Рисунок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684" y="3530537"/>
            <a:ext cx="6519129" cy="2536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341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0" y="31618"/>
            <a:ext cx="11260012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80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8097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Bunday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tuzilishining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oddiyligi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o’lchamlari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katta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bo’lmasligi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ajralib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turadi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lekin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vtulkani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o’rnatish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valni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o’qi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bo’ylab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siljitishiga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to’g’ri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keladi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Shuning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ulanadigan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diametri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50 mm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bo’lgan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katta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o’lchamlarga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bo’lmagan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mashina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mexanizmlarida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ishlatiladi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Muftalarinng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mustaxkamligi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asosan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shponkali</a:t>
            </a:r>
            <a:r>
              <a:rPr kumimoji="0" lang="en-US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shtifli</a:t>
            </a:r>
            <a:r>
              <a:rPr kumimoji="0" lang="en-US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kumimoji="0" lang="en-US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shlitsli</a:t>
            </a:r>
            <a:r>
              <a:rPr kumimoji="0" lang="en-US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birikmalarning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chidamliligi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xamda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vtulkaning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mustaxkamligi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belgilanadi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Gardishsimon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yapaloq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</a:t>
            </a: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.2-rasm)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pallali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o’zaro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birikuvchi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vallarga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oldindan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o’rnatilgan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mashinasozlikda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diametri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chegaralanmagan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xolda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ko’lamda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tuzilishining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.2-a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ko’rasatilgan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bo’shliq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o’rnatilgan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burovchi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moment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bir-biriga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siqib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qo’yilishidan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sirtida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xosil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xisobiga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Vallarning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o’qdoshligi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chapdagi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markazlashtiruvchi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burtikga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to`londagi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teshigiga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joylashishi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ta’minlanadi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99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6815" y="630594"/>
            <a:ext cx="101990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just"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Texnik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xavfsizlikni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inobatga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olgan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xolda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boltli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birikmani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boshqarib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turgan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qismi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burtik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yordamida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biriktirilgan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uz-Cyrl-U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.2-b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rasmda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ko’rsatilgan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gardishli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yalpoq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ikkita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pallali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bo’shliqsiz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o’rnatilagn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boltlar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xisobiga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markazlanishi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Bunday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burovchi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moment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kesilish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egilishga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ishlaydigan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bolt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sterjenlari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xisobiga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uzatiladi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Muftalarning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xavfsizligi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umumiy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xolatda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o’rash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vositasi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ta’minlanadi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Рисунок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467" y="2766978"/>
            <a:ext cx="4656137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038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14400" y="703385"/>
            <a:ext cx="1041009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ctr">
              <a:lnSpc>
                <a:spcPct val="150000"/>
              </a:lnSpc>
              <a:spcAft>
                <a:spcPts val="0"/>
              </a:spcAft>
            </a:pPr>
            <a:r>
              <a:rPr lang="en-US" sz="2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Kompensatsiyalovchi</a:t>
            </a:r>
            <a:r>
              <a:rPr lang="en-US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qattiq</a:t>
            </a:r>
            <a:r>
              <a:rPr lang="ru-RU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endParaRPr lang="ru-RU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Ko’pgina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sharoitlarda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birlashadigan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o’qining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o’zaro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joylanishi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juda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bo’lmay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mexanizmlarni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yig’ish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tayyorlashdagi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notekisliklar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ularning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montaj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ishlaridagi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xatoliklarga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xam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bog’liq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bo’ladi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Vallarni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inal</a:t>
            </a:r>
            <a:r>
              <a:rPr lang="ru-RU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joylashishiga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qarab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xil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og’ishlar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mavjud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</a:t>
            </a:r>
            <a:r>
              <a:rPr lang="uz-Cyrl-U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.3-rasm):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bo’ylanma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siljish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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radial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siljish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ekstsentrisitet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burchakli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siljish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burilish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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9" name="Рисунок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947" y="3047745"/>
            <a:ext cx="4191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9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26477" y="682094"/>
            <a:ext cx="10533185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17.1-rasm.</a:t>
            </a:r>
            <a:endParaRPr lang="ru-RU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Ko’pincha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yuqorida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ko’rsatilgan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og’ishlar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birgalikda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ishtirok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etishi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xolda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umumiy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no`l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o’qdosh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bo’lmagan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joylashmagan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deyiladi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Imkoniyati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boricha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o’qdosh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joylashmagan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vallarni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biriktirish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ko`lpensatsiyalanuvchi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ishlatiladi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O’qdosh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joylashmagan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og’ishini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ko`lpensatsiya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qilish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pallali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orasidagi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elementlar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yordamida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oshiriladi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Oraliqdagi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qattiq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elementlar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Kompensatsiyalovchi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muftalarda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ishlatiladi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oraliqdagi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defformatsiyalanadigan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elementlar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elastik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qo’llaniladi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Elastik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mashinaning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yuritma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zvenosini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bikrlik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xususiyatini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kamaytirish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funktsiyasini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bajaradi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2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Mashinasozlikda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ko’p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ishlatiladigan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muftalardan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yana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mushtsimon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diskli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muftalardir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ayrim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xollarda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ayqashsimon-kulisali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deb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xam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yuritiladi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Bunday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muftalarning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tuzilishi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17.2-rasmda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ko’rsatilgan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ikkita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yarim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pallali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muftadan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xamda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oraliqda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joylashgan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disk </a:t>
            </a:r>
            <a:r>
              <a:rPr lang="en-US" sz="20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iborat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  <a:spcAft>
                <a:spcPts val="0"/>
              </a:spcAft>
            </a:pP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91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4"/>
          <p:cNvPicPr>
            <a:picLocks noChangeAspect="1" noChangeArrowheads="1"/>
          </p:cNvPicPr>
          <p:nvPr/>
        </p:nvPicPr>
        <p:blipFill>
          <a:blip r:embed="rId2" cstate="print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8" y="759785"/>
            <a:ext cx="9548447" cy="5289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94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6814" y="861646"/>
            <a:ext cx="1032217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just">
              <a:spcAft>
                <a:spcPts val="0"/>
              </a:spcAf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ajratish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sirtida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prizmatik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o’yiqlari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ikkita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yarim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muftadan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orasidagi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o’rnatiladigan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xamda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ikki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to`lonida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yarim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o’yiqlarga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joylashadigan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o’zaro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perependikulyar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tayyorlangan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chiziqlari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diskdan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tuzilgan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spcAft>
                <a:spcPts val="0"/>
              </a:spcAf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Perependikulyar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tekislikda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disk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yarimmuftalar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orasidagi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bo’shlik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</a:t>
            </a:r>
            <a:r>
              <a:rPr lang="uz-Cyrl-UZ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.4-rasmda)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vallarning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o’q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bo’ylab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radial 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burchak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siljishiga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keladi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siljishlar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tekislanadi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Aylanma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xarakatni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uzatish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jarayonida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diskdagi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chiqiqlarning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yarim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sirtidagi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o’yiqlarda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sirpanishi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sirtlarning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yeyilishiga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sabab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bo’ladi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bunday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xolatda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uzatilayotgan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quvvatning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taxminan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protsentga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yaqini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yo’qoladi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yeyilishni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kamaytirish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maqsadida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sirtlar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vaqti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vaqti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moylanib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turishi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lozim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Odatda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o’qdosh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bo’lmagan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vallarning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radial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siljishi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UniversalMath1 BT" panose="05050102010205020602" pitchFamily="18" charset="2"/>
              </a:rPr>
              <a:t>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0,04</a:t>
            </a:r>
            <a:r>
              <a:rPr lang="en-US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burchak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siljishi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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UniversalMath1 BT" panose="05050102010205020602" pitchFamily="18" charset="2"/>
              </a:rPr>
              <a:t>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orasida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chegaralanishi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kerak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75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93431"/>
            <a:ext cx="12045462" cy="8079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just">
              <a:spcAft>
                <a:spcPts val="0"/>
              </a:spcAft>
            </a:pP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Ayqashsimon-kulisali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muftalarni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mustaxkamlikka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xisoblashda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oraliqdagi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disk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chiziqlari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yarimmufta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o’yig’i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sirtlari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tekisda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muayyan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tegib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turadi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deb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faraz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qilish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kerak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Bunday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xolda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xar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o’zaro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kontaktda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bo’lgan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nuqtalarning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deformatsiyasi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kuchlanishi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mufta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o’qiga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nisbatan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nuqtalar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oralig’iga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proportsionaldir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17,2,-rasmda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ko’rsatilgan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ezuvchi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kuchlanish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epyurosi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shartli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ravishda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yon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yoqlardagi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o’yiqdan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diametr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to`lon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surilgan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Mustaxkamlik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maksimal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ezuvchi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kuchlanish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bo’yicha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aniqlanadi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indent="180340" algn="ctr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Oraliq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diskining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muvozanat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sharti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burovchi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momenti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yuklanishning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dinamikaviy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e’tiborga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koeffitsient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xolatda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ishlaydigan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me’yorli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yuklangan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mexanizmlar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me’yorsiz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yuklangan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xolda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ishlaydigan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mexanizmlar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1,1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1,3;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og’ir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sharoitda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ishlaydigan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me’yorsiz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yuklangan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xarakat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yo’nalishi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o’zgarib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turadigan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mexanizmlar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1,3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1,5.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endParaRPr lang="en-US" dirty="0" smtClean="0"/>
          </a:p>
          <a:p>
            <a:pPr indent="180340" algn="just">
              <a:lnSpc>
                <a:spcPct val="150000"/>
              </a:lnSpc>
            </a:pPr>
            <a:endParaRPr lang="ru-RU" dirty="0"/>
          </a:p>
          <a:p>
            <a:pPr indent="180340" algn="just">
              <a:lnSpc>
                <a:spcPct val="150000"/>
              </a:lnSpc>
              <a:spcAft>
                <a:spcPts val="0"/>
              </a:spcAft>
            </a:pP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640015" y="239150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 flipH="1">
            <a:off x="3731953" y="3398981"/>
            <a:ext cx="45719" cy="79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042784"/>
              </p:ext>
            </p:extLst>
          </p:nvPr>
        </p:nvGraphicFramePr>
        <p:xfrm>
          <a:off x="3731953" y="3353263"/>
          <a:ext cx="45719" cy="45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Уравнение" r:id="rId3" imgW="1066800" imgH="330200" progId="Equation.3">
                  <p:embed/>
                </p:oleObj>
              </mc:Choice>
              <mc:Fallback>
                <p:oleObj name="Уравнение" r:id="rId3" imgW="1066800" imgH="330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1953" y="3353263"/>
                        <a:ext cx="45719" cy="457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382073"/>
              </p:ext>
            </p:extLst>
          </p:nvPr>
        </p:nvGraphicFramePr>
        <p:xfrm>
          <a:off x="3777672" y="3671146"/>
          <a:ext cx="1685556" cy="561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Уравнение" r:id="rId5" imgW="723600" imgH="241200" progId="Equation.3">
                  <p:embed/>
                </p:oleObj>
              </mc:Choice>
              <mc:Fallback>
                <p:oleObj name="Уравнение" r:id="rId5" imgW="72360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77672" y="3671146"/>
                        <a:ext cx="1685556" cy="5618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881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Объект 26"/>
          <p:cNvSpPr>
            <a:spLocks noGrp="1"/>
          </p:cNvSpPr>
          <p:nvPr>
            <p:ph idx="1"/>
          </p:nvPr>
        </p:nvSpPr>
        <p:spPr>
          <a:xfrm>
            <a:off x="0" y="175846"/>
            <a:ext cx="12192000" cy="6682154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chiqiqqa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chiqiqning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balandligi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</a:t>
            </a:r>
            <a:r>
              <a:rPr lang="uz-Cyrl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.4-rasm);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chiqiqnig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i="1" dirty="0"/>
              <a:t>D</a:t>
            </a:r>
            <a:r>
              <a:rPr lang="en-US" dirty="0"/>
              <a:t> – </a:t>
            </a:r>
            <a:r>
              <a:rPr lang="en-US" dirty="0" err="1"/>
              <a:t>muftaning</a:t>
            </a:r>
            <a:r>
              <a:rPr lang="en-US" dirty="0"/>
              <a:t> </a:t>
            </a:r>
            <a:r>
              <a:rPr lang="en-US" dirty="0" err="1"/>
              <a:t>tashqi</a:t>
            </a:r>
            <a:r>
              <a:rPr lang="en-US" dirty="0"/>
              <a:t> </a:t>
            </a:r>
            <a:r>
              <a:rPr lang="en-US" dirty="0" err="1"/>
              <a:t>diametri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i="1" dirty="0"/>
              <a:t>d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err="1"/>
              <a:t>muftaning</a:t>
            </a:r>
            <a:r>
              <a:rPr lang="en-US" dirty="0"/>
              <a:t> </a:t>
            </a:r>
            <a:r>
              <a:rPr lang="en-US" dirty="0" err="1"/>
              <a:t>ichki</a:t>
            </a:r>
            <a:r>
              <a:rPr lang="en-US" dirty="0"/>
              <a:t> </a:t>
            </a:r>
            <a:r>
              <a:rPr lang="en-US" dirty="0" err="1"/>
              <a:t>diametri</a:t>
            </a:r>
            <a:r>
              <a:rPr lang="en-US" dirty="0"/>
              <a:t> (</a:t>
            </a:r>
            <a:r>
              <a:rPr lang="en-US" dirty="0" err="1"/>
              <a:t>odatda</a:t>
            </a:r>
            <a:r>
              <a:rPr lang="en-US" dirty="0"/>
              <a:t>  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diametriga</a:t>
            </a:r>
            <a:r>
              <a:rPr lang="en-US" dirty="0"/>
              <a:t> </a:t>
            </a:r>
            <a:r>
              <a:rPr lang="en-US" dirty="0" err="1"/>
              <a:t>teng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O’R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kuchlanishning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o’rtacha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(17.2.-rasm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Adolatli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mutanosiblik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bo’lganda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bo’ladi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Объект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135669"/>
              </p:ext>
            </p:extLst>
          </p:nvPr>
        </p:nvGraphicFramePr>
        <p:xfrm>
          <a:off x="4888889" y="175846"/>
          <a:ext cx="2414221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Уравнение" r:id="rId3" imgW="672840" imgH="241200" progId="Equation.3">
                  <p:embed/>
                </p:oleObj>
              </mc:Choice>
              <mc:Fallback>
                <p:oleObj name="Уравнение" r:id="rId3" imgW="67284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8889" y="175846"/>
                        <a:ext cx="2414221" cy="663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Объект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205874"/>
              </p:ext>
            </p:extLst>
          </p:nvPr>
        </p:nvGraphicFramePr>
        <p:xfrm>
          <a:off x="3534019" y="1654476"/>
          <a:ext cx="1723781" cy="684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Уравнение" r:id="rId5" imgW="622080" imgH="393480" progId="Equation.3">
                  <p:embed/>
                </p:oleObj>
              </mc:Choice>
              <mc:Fallback>
                <p:oleObj name="Уравнение" r:id="rId5" imgW="62208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34019" y="1654476"/>
                        <a:ext cx="1723781" cy="684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Объект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347836"/>
              </p:ext>
            </p:extLst>
          </p:nvPr>
        </p:nvGraphicFramePr>
        <p:xfrm>
          <a:off x="3490690" y="3762015"/>
          <a:ext cx="2521977" cy="965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Уравнение" r:id="rId7" imgW="1028520" imgH="393480" progId="Equation.3">
                  <p:embed/>
                </p:oleObj>
              </mc:Choice>
              <mc:Fallback>
                <p:oleObj name="Уравнение" r:id="rId7" imgW="102852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0690" y="3762015"/>
                        <a:ext cx="2521977" cy="965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Объект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847107"/>
              </p:ext>
            </p:extLst>
          </p:nvPr>
        </p:nvGraphicFramePr>
        <p:xfrm>
          <a:off x="4451927" y="5788088"/>
          <a:ext cx="2650182" cy="649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Уравнение" r:id="rId9" imgW="876240" imgH="228600" progId="Equation.3">
                  <p:embed/>
                </p:oleObj>
              </mc:Choice>
              <mc:Fallback>
                <p:oleObj name="Уравнение" r:id="rId9" imgW="87624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51927" y="5788088"/>
                        <a:ext cx="2650182" cy="6492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Объект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68673"/>
              </p:ext>
            </p:extLst>
          </p:nvPr>
        </p:nvGraphicFramePr>
        <p:xfrm>
          <a:off x="5077324" y="4796589"/>
          <a:ext cx="2770554" cy="62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Уравнение" r:id="rId11" imgW="1015920" imgH="228600" progId="Equation.3">
                  <p:embed/>
                </p:oleObj>
              </mc:Choice>
              <mc:Fallback>
                <p:oleObj name="Уравнение" r:id="rId11" imgW="101592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77324" y="4796589"/>
                        <a:ext cx="2770554" cy="62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780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677" y="0"/>
            <a:ext cx="11922369" cy="6699738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de-DE" dirty="0"/>
              <a:t>R</a:t>
            </a:r>
            <a:r>
              <a:rPr lang="de-DE" baseline="-25000" dirty="0"/>
              <a:t>O’R</a:t>
            </a:r>
            <a:r>
              <a:rPr lang="de-DE" dirty="0"/>
              <a:t>- </a:t>
            </a:r>
            <a:r>
              <a:rPr lang="de-DE" dirty="0" err="1"/>
              <a:t>chiqiqning</a:t>
            </a:r>
            <a:r>
              <a:rPr lang="de-DE" dirty="0"/>
              <a:t> </a:t>
            </a:r>
            <a:r>
              <a:rPr lang="de-DE" dirty="0" err="1"/>
              <a:t>o’rtacha</a:t>
            </a:r>
            <a:r>
              <a:rPr lang="de-DE" dirty="0"/>
              <a:t> </a:t>
            </a:r>
            <a:r>
              <a:rPr lang="de-DE" dirty="0" err="1"/>
              <a:t>radiusi</a:t>
            </a:r>
            <a:r>
              <a:rPr lang="de-DE" dirty="0"/>
              <a:t> (</a:t>
            </a:r>
            <a:r>
              <a:rPr lang="de-DE" dirty="0" err="1"/>
              <a:t>o’rtacha</a:t>
            </a:r>
            <a:r>
              <a:rPr lang="de-DE" dirty="0"/>
              <a:t> </a:t>
            </a:r>
            <a:r>
              <a:rPr lang="de-DE" dirty="0" err="1"/>
              <a:t>diametri</a:t>
            </a:r>
            <a:r>
              <a:rPr lang="de-DE" dirty="0"/>
              <a:t> </a:t>
            </a:r>
            <a:r>
              <a:rPr lang="de-DE" dirty="0" err="1"/>
              <a:t>yarmisi</a:t>
            </a:r>
            <a:r>
              <a:rPr lang="de-DE" dirty="0" smtClean="0"/>
              <a:t>):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chiqiqlar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  <a:p>
            <a:pPr marL="0" indent="0">
              <a:buNone/>
            </a:pPr>
            <a:r>
              <a:rPr lang="de-DE" dirty="0" err="1"/>
              <a:t>Bu</a:t>
            </a:r>
            <a:r>
              <a:rPr lang="de-DE" dirty="0"/>
              <a:t> </a:t>
            </a:r>
            <a:r>
              <a:rPr lang="de-DE" dirty="0" err="1"/>
              <a:t>qiymatlarni</a:t>
            </a:r>
            <a:r>
              <a:rPr lang="de-DE" dirty="0"/>
              <a:t>  </a:t>
            </a:r>
            <a:r>
              <a:rPr lang="de-DE" dirty="0" err="1"/>
              <a:t>dastlabki</a:t>
            </a:r>
            <a:r>
              <a:rPr lang="de-DE" dirty="0"/>
              <a:t> </a:t>
            </a:r>
            <a:r>
              <a:rPr lang="de-DE" dirty="0" err="1"/>
              <a:t>ifodaga</a:t>
            </a:r>
            <a:r>
              <a:rPr lang="de-DE" dirty="0"/>
              <a:t> </a:t>
            </a:r>
            <a:r>
              <a:rPr lang="de-DE" dirty="0" err="1"/>
              <a:t>qo’yib</a:t>
            </a:r>
            <a:r>
              <a:rPr lang="de-DE" dirty="0"/>
              <a:t>, </a:t>
            </a:r>
            <a:r>
              <a:rPr lang="de-DE" dirty="0" err="1"/>
              <a:t>muvozanat</a:t>
            </a:r>
            <a:r>
              <a:rPr lang="de-DE" dirty="0"/>
              <a:t> </a:t>
            </a:r>
            <a:r>
              <a:rPr lang="de-DE" dirty="0" err="1"/>
              <a:t>sharti</a:t>
            </a:r>
            <a:r>
              <a:rPr lang="de-DE" dirty="0"/>
              <a:t> </a:t>
            </a:r>
            <a:r>
              <a:rPr lang="de-DE" dirty="0" err="1"/>
              <a:t>asosida</a:t>
            </a:r>
            <a:r>
              <a:rPr lang="de-DE" dirty="0"/>
              <a:t>  </a:t>
            </a:r>
            <a:r>
              <a:rPr lang="de-DE" dirty="0" err="1"/>
              <a:t>soddalashtirib</a:t>
            </a:r>
            <a:r>
              <a:rPr lang="de-DE" dirty="0"/>
              <a:t>, </a:t>
            </a:r>
            <a:r>
              <a:rPr lang="de-DE" dirty="0" err="1"/>
              <a:t>quyidagi</a:t>
            </a:r>
            <a:r>
              <a:rPr lang="de-DE" dirty="0"/>
              <a:t> </a:t>
            </a:r>
            <a:r>
              <a:rPr lang="de-DE" dirty="0" err="1"/>
              <a:t>tenglikni</a:t>
            </a:r>
            <a:r>
              <a:rPr lang="de-DE" dirty="0"/>
              <a:t> </a:t>
            </a:r>
            <a:r>
              <a:rPr lang="de-DE" dirty="0" err="1" smtClean="0"/>
              <a:t>olamiz</a:t>
            </a:r>
            <a:endParaRPr lang="de-DE" dirty="0" smtClean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shartdan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ayqashsimon-kulisali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muftalarni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tekshirishga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xisoblash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formulasini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keltirib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chiqaramiz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457808"/>
              </p:ext>
            </p:extLst>
          </p:nvPr>
        </p:nvGraphicFramePr>
        <p:xfrm>
          <a:off x="2805233" y="291782"/>
          <a:ext cx="5916735" cy="1167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Уравнение" r:id="rId3" imgW="1955520" imgH="431640" progId="Equation.3">
                  <p:embed/>
                </p:oleObj>
              </mc:Choice>
              <mc:Fallback>
                <p:oleObj name="Уравнение" r:id="rId3" imgW="195552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5233" y="291782"/>
                        <a:ext cx="5916735" cy="11677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871963"/>
              </p:ext>
            </p:extLst>
          </p:nvPr>
        </p:nvGraphicFramePr>
        <p:xfrm>
          <a:off x="5491285" y="2263898"/>
          <a:ext cx="1771162" cy="885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Уравнение" r:id="rId5" imgW="787320" imgH="393480" progId="Equation.3">
                  <p:embed/>
                </p:oleObj>
              </mc:Choice>
              <mc:Fallback>
                <p:oleObj name="Уравнение" r:id="rId5" imgW="78732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91285" y="2263898"/>
                        <a:ext cx="1771162" cy="8855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066035"/>
              </p:ext>
            </p:extLst>
          </p:nvPr>
        </p:nvGraphicFramePr>
        <p:xfrm>
          <a:off x="4829417" y="4477069"/>
          <a:ext cx="3892551" cy="1066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Уравнение" r:id="rId7" imgW="1714320" imgH="469800" progId="Equation.3">
                  <p:embed/>
                </p:oleObj>
              </mc:Choice>
              <mc:Fallback>
                <p:oleObj name="Уравнение" r:id="rId7" imgW="1714320" imgH="469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29417" y="4477069"/>
                        <a:ext cx="3892551" cy="1066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601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677" y="211014"/>
            <a:ext cx="12051323" cy="6646985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Ayqashsimon-kulisali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muftalarning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detallari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konstruktsion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legirlangan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po’latlardan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tayyorlanadi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xolda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(15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20)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215303"/>
              </p:ext>
            </p:extLst>
          </p:nvPr>
        </p:nvGraphicFramePr>
        <p:xfrm>
          <a:off x="3031879" y="416423"/>
          <a:ext cx="4828443" cy="1023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Уравнение" r:id="rId3" imgW="1485720" imgH="444240" progId="Equation.3">
                  <p:embed/>
                </p:oleObj>
              </mc:Choice>
              <mc:Fallback>
                <p:oleObj name="Уравнение" r:id="rId3" imgW="148572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1879" y="416423"/>
                        <a:ext cx="4828443" cy="1023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695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3431" y="0"/>
            <a:ext cx="11998569" cy="6717323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Gidromufta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 smtClean="0"/>
              <a:t>	</a:t>
            </a:r>
            <a:r>
              <a:rPr lang="en-US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Gidromuftaning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afzalliklaridan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uzatmasida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bo’layotgan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branishlarni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muntazam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sundira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tufayli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dvigat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turg’unlanib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ta'minlab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avtomobilni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ngillashadi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muttasil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zlana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erishiladi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avtomobilning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silkinmasdan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qo’zg’alishi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yurishi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yaxshilanadi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yakka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gidromufta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to’liq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bo’lmasligi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avtomobil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uzatmasida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aralashgan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Gidromuftaning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avtomobillarda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tarqalmaganligining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qo’yilganda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avtomobilning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yonilg’i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murakkablashib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ishonchli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dirty="0"/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35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677" y="0"/>
            <a:ext cx="12051323" cy="6858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ktromagnitli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ilashish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disklardan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uslubi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kukunchalarning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ktromagnit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ta'sirida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sirtlari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tarqalib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bikr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tolacha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xosil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ilashish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zarrachalar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qo’shiladi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ktromagnit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to’xtalishi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bilanoq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kukunchalar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bikr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tolacha"lar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ilashish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yo’qotadi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ilashish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muftasining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20578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1116</Words>
  <Application>Microsoft Office PowerPoint</Application>
  <PresentationFormat>Широкоэкранный</PresentationFormat>
  <Paragraphs>69</Paragraphs>
  <Slides>16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Symbol</vt:lpstr>
      <vt:lpstr>Times New Roman</vt:lpstr>
      <vt:lpstr>UniversalMath1 BT</vt:lpstr>
      <vt:lpstr>Тема Office</vt:lpstr>
      <vt:lpstr>Уравнение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ASUS</dc:creator>
  <cp:lastModifiedBy>ASUS</cp:lastModifiedBy>
  <cp:revision>14</cp:revision>
  <dcterms:created xsi:type="dcterms:W3CDTF">2022-11-18T18:01:25Z</dcterms:created>
  <dcterms:modified xsi:type="dcterms:W3CDTF">2022-11-19T06:24:13Z</dcterms:modified>
</cp:coreProperties>
</file>