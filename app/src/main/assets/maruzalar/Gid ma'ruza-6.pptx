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  <p:sldMasterId id="2147483720" r:id="rId3"/>
    <p:sldMasterId id="2147483732" r:id="rId4"/>
    <p:sldMasterId id="2147483744" r:id="rId5"/>
    <p:sldMasterId id="2147483756" r:id="rId6"/>
    <p:sldMasterId id="2147483768" r:id="rId7"/>
    <p:sldMasterId id="2147483780" r:id="rId8"/>
    <p:sldMasterId id="2147483816" r:id="rId9"/>
  </p:sldMasterIdLst>
  <p:sldIdLst>
    <p:sldId id="276" r:id="rId10"/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8" Type="http://schemas.openxmlformats.org/officeDocument/2006/relationships/slideMaster" Target="slideMasters/slideMaster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887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84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63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7224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7224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14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71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804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2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93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52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038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867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867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762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D6D402-35C8-4DF6-9B99-B39C329F7E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22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D6F2EB-98C8-47AF-83A4-DBBF57CBD9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99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77F88C-0C94-46AA-A3E5-197E4870D7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17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2895600"/>
            <a:ext cx="4038600" cy="323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895600"/>
            <a:ext cx="4038600" cy="323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A36F3-C6C8-49BE-9F2B-BE081A9CD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70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981882-1E3E-43EB-BE8A-F48FA57750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62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12C146-EE64-4105-908E-5FCE0C7544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361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D5235-E699-4A4A-A102-1B3C1EB312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240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1B92C-6591-4EB1-8E68-6B0D744B4C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051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66E56-AC46-410B-9984-37D5CE36F5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968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78C0B-E530-4469-861B-ABB10BDC69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454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752600"/>
            <a:ext cx="2057400" cy="437356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752600"/>
            <a:ext cx="6019800" cy="437356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6DAEF-4031-4DF2-AE1B-4273833C75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43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5B97E-3190-48B9-A753-C965A8E0F6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992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C529EC-6390-4020-A18D-814689E5F5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86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E818E4-07A1-4E3C-AD4D-5C5CF163AD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395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09FF4E-128F-4FBE-8EB0-46CC37F300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714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E37D7-ADBB-47BD-B582-BF0F9C7099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6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2176E8-7725-481E-BDAE-E71701D0A6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694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F405F-A2ED-4E73-AE2C-5AE792750B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652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C33C8-6424-4A45-91A0-1B4ADE16C1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487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4AB4D2-746C-41BB-BFCC-35ACBB29B8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569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4B3BF-A026-4995-B8EA-3E89740807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178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42A969-0693-4A02-A882-97C845E55F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212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837D5-D14E-4341-98D9-EAA49867BB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587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BC87E-8037-4252-9AC9-9AF9172114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52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B935B-3629-4BDF-B673-8CB6B1ACC4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052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7224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7224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35AE6-5712-4D4F-9BE0-845AE547B8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971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DDB3B-C64D-4208-9640-55C524757A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062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729B69-8D6E-44D5-B08E-74ED91A511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654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4553D-D060-4485-ACFA-72243F9B49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128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8F35F-D64D-45E2-9DEA-02BA6A176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254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E59E-34DA-4181-B975-3D4B18E84D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120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4D673-EC98-4C5D-B687-2D2B887744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37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867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867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E8B322-456D-4984-B869-2864DD3170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511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E9096-1730-4402-809F-45B73F714B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80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F09DD0-57E5-4ED9-85F5-CA00E5AC9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414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FFE29-52BE-4268-B81B-E23CB8D3D4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581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2895600"/>
            <a:ext cx="4038600" cy="323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895600"/>
            <a:ext cx="4038600" cy="323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BE8F9-9C6D-446E-85D5-4B3693E3AE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39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F90C0-F7BA-4E55-9C5F-28DFEA7ADB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467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843BB-36C9-4194-8B14-659547185C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1405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9F6B86-A88B-46B5-A592-1FB249399B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411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4D7E5-0C0C-4FB1-AA52-D9CCE80A94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556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28C97-9687-4250-9A39-90151F683A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999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3A8E5-898D-4D63-AC61-783FEB4BA1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8988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752600"/>
            <a:ext cx="2057400" cy="437356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752600"/>
            <a:ext cx="6019800" cy="437356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D68B6-D4DC-4B22-B541-7305647BDC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3891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E4D48-208E-4F5A-B616-61678E04FF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608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A5788-0218-4F49-86DB-B95158E5D0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8694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361E7-ECDC-4594-8700-D4944812CE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4043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EA54A3-0929-4D06-9687-5ED4449F03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896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D8993-2305-4C1E-8B13-BF84F151D9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63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81BE88-C613-4C8D-AAF8-6704A3AE15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931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C6C6D2-6657-4136-9294-3364978DD3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379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9B5E8-54A1-4D7B-ABE2-2E609FD92B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0819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976093-7C22-47B4-B183-2E413B517D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669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CFED7E-1FC7-4C80-A8F8-6B5645472E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444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11E1C-ACDC-462D-9FB1-C714F21472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6467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50688-4E38-4AD0-A8A1-828098AD6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381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1FE83-4441-48B6-907D-EB39E651F0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7921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3398C-9E3E-4D4F-B1FB-D19A6CAF2C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523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7224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7224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2B150-8054-4CAC-AE1F-BED7BF803C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069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DADA5-B5B6-4848-A45E-5081E5D0E2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880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B18FB-DE15-4255-82B6-5920779D2E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2629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11A4B-43D7-41A6-B32E-BB47D5C54A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899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E9478-9A80-47D2-9053-27F6D40993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406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AC10B-506B-4181-B3A9-70610446CA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3226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40984-F171-41CC-8035-89A17250A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790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8674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8674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CCC57-9707-41AD-A009-0956E72493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6789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98C612-970E-4C05-B697-8352B992C4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1505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24F25-976A-4E46-B1B2-9C68CD0194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7605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4770D-452B-452D-9AB4-CB1E605C6C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78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2895600"/>
            <a:ext cx="4038600" cy="323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895600"/>
            <a:ext cx="4038600" cy="323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5BB071-EFBC-406A-8172-7F2CFF6CA3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4193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666155-BCD0-4362-AF4C-4F881DB649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2159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E56FA-F788-4698-B2ED-F0BA08EA46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3373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04F87-2DA9-4171-81C4-9B615D759E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0492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6EA86-E692-465F-BE3E-2AB4ACD610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7855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BA742-7238-4232-86E3-AA0E69D56E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7533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B9171-5CB1-43A1-B9D5-C29BE70F3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2552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752600"/>
            <a:ext cx="2057400" cy="437356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752600"/>
            <a:ext cx="6019800" cy="437356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168FA-3405-4B81-BB49-A65A0E133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387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Прямоугольник 7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8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Прямоугольник 9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Прямоугольник 10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Прямоугольник 11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Прямоугольник 1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Прямоугольник 1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Прямоугольник 1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Прямоугольник 31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Прямоугольник 38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Прямоугольник 39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Прямоугольник 40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Прямоугольник 41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Прямоугольник 55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Прямоугольник 64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Прямоугольник 65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Прямоугольник 66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24" name="Дата 27"/>
          <p:cNvSpPr>
            <a:spLocks noGrp="1"/>
          </p:cNvSpPr>
          <p:nvPr>
            <p:ph type="dt" sz="half" idx="10"/>
          </p:nvPr>
        </p:nvSpPr>
        <p:spPr>
          <a:xfrm>
            <a:off x="6477000" y="6416675"/>
            <a:ext cx="2133600" cy="365125"/>
          </a:xfrm>
        </p:spPr>
        <p:txBody>
          <a:bodyPr/>
          <a:lstStyle>
            <a:lvl1pPr>
              <a:defRPr/>
            </a:lvl1pPr>
            <a:extLst/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25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914400" y="6416675"/>
            <a:ext cx="5562600" cy="365125"/>
          </a:xfrm>
        </p:spPr>
        <p:txBody>
          <a:bodyPr/>
          <a:lstStyle>
            <a:lvl1pPr>
              <a:defRPr/>
            </a:lvl1pPr>
            <a:extLst/>
          </a:lstStyle>
          <a:p>
            <a:endParaRPr lang="ru-RU"/>
          </a:p>
        </p:txBody>
      </p:sp>
      <p:sp>
        <p:nvSpPr>
          <p:cNvPr id="26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8610600" y="6416675"/>
            <a:ext cx="457200" cy="365125"/>
          </a:xfrm>
        </p:spPr>
        <p:txBody>
          <a:bodyPr/>
          <a:lstStyle>
            <a:lvl1pPr>
              <a:defRPr/>
            </a:lvl1pPr>
            <a:extLst/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Click="0" advTm="8000">
        <p14:gallery dir="l"/>
      </p:transition>
    </mc:Choice>
    <mc:Fallback xmlns="">
      <p:transition spd="slow" advClick="0" advTm="8000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Прямоугольник 7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8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Прямоугольник 9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Прямоугольник 10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Прямоугольник 11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Прямоугольник 1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Прямоугольник 1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Прямоугольник 1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Полилиния 13"/>
          <p:cNvSpPr>
            <a:spLocks/>
          </p:cNvSpPr>
          <p:nvPr/>
        </p:nvSpPr>
        <p:spPr bwMode="auto">
          <a:xfrm>
            <a:off x="4829175" y="1073150"/>
            <a:ext cx="4321175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Полилиния 14"/>
          <p:cNvSpPr>
            <a:spLocks/>
          </p:cNvSpPr>
          <p:nvPr/>
        </p:nvSpPr>
        <p:spPr bwMode="auto">
          <a:xfrm>
            <a:off x="374650" y="0"/>
            <a:ext cx="5513388" cy="661511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5" name="Полилиния 12"/>
          <p:cNvSpPr>
            <a:spLocks/>
          </p:cNvSpPr>
          <p:nvPr/>
        </p:nvSpPr>
        <p:spPr bwMode="auto">
          <a:xfrm rot="5236414">
            <a:off x="4461669" y="1483519"/>
            <a:ext cx="4114800" cy="1189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7" name="Полилиния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8" name="Полилиния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9" name="Полилиния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0" name="Полилиния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1" name="Полилиния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2" name="Полилиния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3" name="Полилиния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4" name="Полилиния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5" name="Полилиния 24"/>
          <p:cNvSpPr>
            <a:spLocks/>
          </p:cNvSpPr>
          <p:nvPr/>
        </p:nvSpPr>
        <p:spPr bwMode="auto">
          <a:xfrm>
            <a:off x="366713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6" name="Полилиния 25"/>
          <p:cNvSpPr>
            <a:spLocks/>
          </p:cNvSpPr>
          <p:nvPr/>
        </p:nvSpPr>
        <p:spPr bwMode="auto">
          <a:xfrm>
            <a:off x="366713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7" name="Полилиния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8" name="Прямоугольник 6"/>
          <p:cNvSpPr/>
          <p:nvPr/>
        </p:nvSpPr>
        <p:spPr>
          <a:xfrm>
            <a:off x="363538" y="401638"/>
            <a:ext cx="8504237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Прямоугольник 7"/>
          <p:cNvSpPr/>
          <p:nvPr/>
        </p:nvSpPr>
        <p:spPr>
          <a:xfrm flipH="1">
            <a:off x="371475" y="681038"/>
            <a:ext cx="2698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0" name="Прямоугольник 8"/>
          <p:cNvSpPr/>
          <p:nvPr/>
        </p:nvSpPr>
        <p:spPr>
          <a:xfrm flipH="1">
            <a:off x="411163" y="681038"/>
            <a:ext cx="26987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1" name="Прямоугольник 9"/>
          <p:cNvSpPr/>
          <p:nvPr/>
        </p:nvSpPr>
        <p:spPr>
          <a:xfrm flipH="1">
            <a:off x="447675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Прямоугольник 10"/>
          <p:cNvSpPr/>
          <p:nvPr/>
        </p:nvSpPr>
        <p:spPr>
          <a:xfrm flipH="1">
            <a:off x="476250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3" name="Прямоугольник 11"/>
          <p:cNvSpPr/>
          <p:nvPr/>
        </p:nvSpPr>
        <p:spPr>
          <a:xfrm>
            <a:off x="500063" y="681038"/>
            <a:ext cx="36512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bIns="0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4" name="Дата 3"/>
          <p:cNvSpPr>
            <a:spLocks noGrp="1"/>
          </p:cNvSpPr>
          <p:nvPr>
            <p:ph type="dt" sz="half" idx="10"/>
          </p:nvPr>
        </p:nvSpPr>
        <p:spPr>
          <a:xfrm>
            <a:off x="6477000" y="6416675"/>
            <a:ext cx="2133600" cy="365125"/>
          </a:xfrm>
        </p:spPr>
        <p:txBody>
          <a:bodyPr/>
          <a:lstStyle>
            <a:lvl1pPr>
              <a:defRPr/>
            </a:lvl1pPr>
            <a:extLst/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3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914400" y="6416675"/>
            <a:ext cx="5562600" cy="365125"/>
          </a:xfrm>
        </p:spPr>
        <p:txBody>
          <a:bodyPr/>
          <a:lstStyle>
            <a:lvl1pPr>
              <a:defRPr/>
            </a:lvl1pPr>
            <a:extLst/>
          </a:lstStyle>
          <a:p>
            <a:endParaRPr lang="ru-RU"/>
          </a:p>
        </p:txBody>
      </p:sp>
      <p:sp>
        <p:nvSpPr>
          <p:cNvPr id="3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416675"/>
            <a:ext cx="457200" cy="365125"/>
          </a:xfrm>
        </p:spPr>
        <p:txBody>
          <a:bodyPr/>
          <a:lstStyle>
            <a:lvl1pPr>
              <a:defRPr/>
            </a:lvl1pPr>
            <a:extLst/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Click="0" advTm="8000">
        <p14:gallery dir="l"/>
      </p:transition>
    </mc:Choice>
    <mc:Fallback xmlns="">
      <p:transition spd="slow" advClick="0" advTm="8000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" name="Прямоугольник 1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Прямоугольник 1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Прямоугольник 1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Прямоугольник 24"/>
          <p:cNvSpPr/>
          <p:nvPr/>
        </p:nvSpPr>
        <p:spPr>
          <a:xfrm>
            <a:off x="0" y="401638"/>
            <a:ext cx="8867775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Прямоугольник 15"/>
          <p:cNvSpPr/>
          <p:nvPr/>
        </p:nvSpPr>
        <p:spPr>
          <a:xfrm>
            <a:off x="87313" y="681038"/>
            <a:ext cx="46037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Прямоугольник 16"/>
          <p:cNvSpPr/>
          <p:nvPr/>
        </p:nvSpPr>
        <p:spPr>
          <a:xfrm>
            <a:off x="47625" y="681038"/>
            <a:ext cx="26988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Прямоугольник 17"/>
          <p:cNvSpPr/>
          <p:nvPr/>
        </p:nvSpPr>
        <p:spPr>
          <a:xfrm>
            <a:off x="28575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Прямоугольник 18"/>
          <p:cNvSpPr/>
          <p:nvPr/>
        </p:nvSpPr>
        <p:spPr>
          <a:xfrm>
            <a:off x="0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Прямоугольник 19"/>
          <p:cNvSpPr/>
          <p:nvPr/>
        </p:nvSpPr>
        <p:spPr>
          <a:xfrm flipH="1">
            <a:off x="149225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" name="Прямоугольник 20"/>
          <p:cNvSpPr/>
          <p:nvPr/>
        </p:nvSpPr>
        <p:spPr>
          <a:xfrm flipH="1">
            <a:off x="188913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Прямоугольник 21"/>
          <p:cNvSpPr/>
          <p:nvPr/>
        </p:nvSpPr>
        <p:spPr>
          <a:xfrm flipH="1">
            <a:off x="227013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Прямоугольник 28"/>
          <p:cNvSpPr/>
          <p:nvPr/>
        </p:nvSpPr>
        <p:spPr>
          <a:xfrm flipH="1">
            <a:off x="255588" y="681038"/>
            <a:ext cx="7937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5" name="Прямоугольник 29"/>
          <p:cNvSpPr/>
          <p:nvPr/>
        </p:nvSpPr>
        <p:spPr>
          <a:xfrm>
            <a:off x="279400" y="681038"/>
            <a:ext cx="36513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/>
          <a:lstStyle>
            <a:lvl1pPr>
              <a:defRPr sz="4000"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26" name="Дата 6"/>
          <p:cNvSpPr>
            <a:spLocks noGrp="1"/>
          </p:cNvSpPr>
          <p:nvPr>
            <p:ph type="dt" sz="half" idx="10"/>
          </p:nvPr>
        </p:nvSpPr>
        <p:spPr>
          <a:xfrm>
            <a:off x="6477000" y="6416675"/>
            <a:ext cx="2133600" cy="365125"/>
          </a:xfrm>
        </p:spPr>
        <p:txBody>
          <a:bodyPr/>
          <a:lstStyle>
            <a:lvl1pPr>
              <a:defRPr/>
            </a:lvl1pPr>
            <a:extLst/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27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914400" y="6416675"/>
            <a:ext cx="5562600" cy="365125"/>
          </a:xfrm>
        </p:spPr>
        <p:txBody>
          <a:bodyPr/>
          <a:lstStyle>
            <a:lvl1pPr>
              <a:defRPr/>
            </a:lvl1pPr>
            <a:extLst/>
          </a:lstStyle>
          <a:p>
            <a:endParaRPr lang="ru-RU"/>
          </a:p>
        </p:txBody>
      </p:sp>
      <p:sp>
        <p:nvSpPr>
          <p:cNvPr id="28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10600" y="6416675"/>
            <a:ext cx="457200" cy="365125"/>
          </a:xfrm>
        </p:spPr>
        <p:txBody>
          <a:bodyPr/>
          <a:lstStyle>
            <a:lvl1pPr>
              <a:defRPr/>
            </a:lvl1pPr>
            <a:extLst/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Click="0" advTm="8000">
        <p14:gallery dir="l"/>
      </p:transition>
    </mc:Choice>
    <mc:Fallback xmlns="">
      <p:transition spd="slow" advClick="0" advTm="8000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6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Прямоугольник 7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Прямоугольник 8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Прямоугольник 9"/>
          <p:cNvSpPr/>
          <p:nvPr/>
        </p:nvSpPr>
        <p:spPr>
          <a:xfrm>
            <a:off x="255588" y="4637088"/>
            <a:ext cx="73025" cy="138112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Прямоугольник 10"/>
          <p:cNvSpPr/>
          <p:nvPr/>
        </p:nvSpPr>
        <p:spPr>
          <a:xfrm>
            <a:off x="255588" y="4541838"/>
            <a:ext cx="73025" cy="7461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Прямоугольник 11"/>
          <p:cNvSpPr/>
          <p:nvPr/>
        </p:nvSpPr>
        <p:spPr>
          <a:xfrm>
            <a:off x="309563" y="681038"/>
            <a:ext cx="46037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Прямоугольник 1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Прямоугольник 1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Прямоугольник 1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Прямоугольник 7"/>
          <p:cNvSpPr/>
          <p:nvPr/>
        </p:nvSpPr>
        <p:spPr>
          <a:xfrm>
            <a:off x="368300" y="0"/>
            <a:ext cx="8777288" cy="1878013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Прямая соединительная линия 8"/>
          <p:cNvCxnSpPr/>
          <p:nvPr/>
        </p:nvCxnSpPr>
        <p:spPr>
          <a:xfrm flipV="1">
            <a:off x="363538" y="1884363"/>
            <a:ext cx="8782050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Группа 9"/>
          <p:cNvGrpSpPr>
            <a:grpSpLocks/>
          </p:cNvGrpSpPr>
          <p:nvPr/>
        </p:nvGrpSpPr>
        <p:grpSpPr bwMode="auto">
          <a:xfrm rot="5400000">
            <a:off x="8515351" y="1219200"/>
            <a:ext cx="131762" cy="128587"/>
            <a:chOff x="6668087" y="1297746"/>
            <a:chExt cx="161840" cy="156602"/>
          </a:xfrm>
        </p:grpSpPr>
        <p:cxnSp>
          <p:nvCxnSpPr>
            <p:cNvPr id="17" name="Прямая соединительная линия 14"/>
            <p:cNvCxnSpPr/>
            <p:nvPr/>
          </p:nvCxnSpPr>
          <p:spPr>
            <a:xfrm rot="16200000">
              <a:off x="6663593" y="1298375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5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6"/>
            <p:cNvCxnSpPr/>
            <p:nvPr/>
          </p:nvCxnSpPr>
          <p:spPr>
            <a:xfrm rot="5400000" flipH="1">
              <a:off x="6744513" y="1297400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3"/>
          <p:cNvGrpSpPr>
            <a:grpSpLocks/>
          </p:cNvGrpSpPr>
          <p:nvPr/>
        </p:nvGrpSpPr>
        <p:grpSpPr bwMode="auto">
          <a:xfrm rot="5400000">
            <a:off x="8667751" y="1371600"/>
            <a:ext cx="131762" cy="128587"/>
            <a:chOff x="6668087" y="1297746"/>
            <a:chExt cx="161840" cy="156602"/>
          </a:xfrm>
        </p:grpSpPr>
        <p:cxnSp>
          <p:nvCxnSpPr>
            <p:cNvPr id="21" name="Прямая соединительная линия 10"/>
            <p:cNvCxnSpPr/>
            <p:nvPr/>
          </p:nvCxnSpPr>
          <p:spPr>
            <a:xfrm rot="16200000">
              <a:off x="6663593" y="1298375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11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12"/>
            <p:cNvCxnSpPr/>
            <p:nvPr/>
          </p:nvCxnSpPr>
          <p:spPr>
            <a:xfrm rot="5400000" flipH="1">
              <a:off x="6744513" y="1297400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Группа 17"/>
          <p:cNvGrpSpPr>
            <a:grpSpLocks/>
          </p:cNvGrpSpPr>
          <p:nvPr/>
        </p:nvGrpSpPr>
        <p:grpSpPr bwMode="auto">
          <a:xfrm rot="5400000">
            <a:off x="8320087" y="1474788"/>
            <a:ext cx="131763" cy="128588"/>
            <a:chOff x="6668087" y="1297746"/>
            <a:chExt cx="161840" cy="156602"/>
          </a:xfrm>
        </p:grpSpPr>
        <p:cxnSp>
          <p:nvCxnSpPr>
            <p:cNvPr id="25" name="Прямая соединительная линия 18"/>
            <p:cNvCxnSpPr/>
            <p:nvPr/>
          </p:nvCxnSpPr>
          <p:spPr>
            <a:xfrm rot="16200000">
              <a:off x="6663592" y="1298373"/>
              <a:ext cx="88934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19"/>
            <p:cNvCxnSpPr/>
            <p:nvPr/>
          </p:nvCxnSpPr>
          <p:spPr>
            <a:xfrm rot="16200000" flipV="1">
              <a:off x="6685198" y="1391513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0"/>
            <p:cNvCxnSpPr/>
            <p:nvPr/>
          </p:nvCxnSpPr>
          <p:spPr>
            <a:xfrm rot="5400000" flipH="1">
              <a:off x="6744512" y="1297398"/>
              <a:ext cx="88934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ru-RU" noProof="0"/>
              <a:t>Вставка рисунка</a:t>
            </a:r>
            <a:endParaRPr lang="en-US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29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endParaRPr lang="ru-RU"/>
          </a:p>
        </p:txBody>
      </p:sp>
      <p:sp>
        <p:nvSpPr>
          <p:cNvPr id="30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Click="0" advTm="8000">
        <p14:gallery dir="l"/>
      </p:transition>
    </mc:Choice>
    <mc:Fallback xmlns="">
      <p:transition spd="slow" advClick="0" advTm="8000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745476"/>
      </p:ext>
    </p:extLst>
  </p:cSld>
  <p:clrMapOvr>
    <a:masterClrMapping/>
  </p:clrMapOvr>
  <p:transition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224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endParaRPr lang="ru-RU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752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95600"/>
            <a:ext cx="8229600" cy="323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6FF157C-452E-46DD-AD1D-9A99231BFD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ctr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ctr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ctr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EAF766D-0209-417A-BEE0-EEBE03742B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224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489C387-B0B3-4E81-AACC-B297CF8134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752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95600"/>
            <a:ext cx="8229600" cy="323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AFF031F-BB25-4811-82AF-9213280C4C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ctr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ctr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ctr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AB52943-C579-4E3C-A649-26942E409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224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ED27ED4-DF31-4FBA-8DB4-94158712B7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7526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895600"/>
            <a:ext cx="8229600" cy="323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www.arxiv.uz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46E4A5D-3082-41CE-86DC-AD44625622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ctr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ctr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ctr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75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2">
                <a:tint val="88000"/>
                <a:satMod val="40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512763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9953" name="Текст 12"/>
          <p:cNvSpPr>
            <a:spLocks noGrp="1"/>
          </p:cNvSpPr>
          <p:nvPr>
            <p:ph type="body" idx="1"/>
          </p:nvPr>
        </p:nvSpPr>
        <p:spPr bwMode="auto">
          <a:xfrm>
            <a:off x="914400" y="178435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4" name="Дата 4"/>
          <p:cNvSpPr>
            <a:spLocks noGrp="1"/>
          </p:cNvSpPr>
          <p:nvPr>
            <p:ph type="dt" sz="half" idx="2"/>
          </p:nvPr>
        </p:nvSpPr>
        <p:spPr>
          <a:xfrm>
            <a:off x="6477000" y="55563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fontAlgn="auto">
              <a:spcBef>
                <a:spcPts val="0"/>
              </a:spcBef>
              <a:spcAft>
                <a:spcPts val="0"/>
              </a:spcAft>
              <a:defRPr sz="1100">
                <a:solidFill>
                  <a:schemeClr val="tx2"/>
                </a:solidFill>
                <a:latin typeface="+mn-lt"/>
              </a:defRPr>
            </a:lvl1pPr>
            <a:extLst/>
          </a:lstStyle>
          <a:p>
            <a:fld id="{156ECF93-C2E6-4FF9-968B-0795BCEC2A16}" type="datetimeFigureOut">
              <a:rPr lang="ru-RU" smtClean="0"/>
              <a:pPr/>
              <a:t>14.10.2025</a:t>
            </a:fld>
            <a:endParaRPr lang="ru-RU"/>
          </a:p>
        </p:txBody>
      </p:sp>
      <p:sp>
        <p:nvSpPr>
          <p:cNvPr id="35" name="Нижний колонтитул 5"/>
          <p:cNvSpPr>
            <a:spLocks noGrp="1"/>
          </p:cNvSpPr>
          <p:nvPr>
            <p:ph type="ftr" sz="quarter" idx="3"/>
          </p:nvPr>
        </p:nvSpPr>
        <p:spPr>
          <a:xfrm>
            <a:off x="914400" y="55563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100">
                <a:solidFill>
                  <a:schemeClr val="tx2"/>
                </a:solidFill>
                <a:latin typeface="+mn-lt"/>
              </a:defRPr>
            </a:lvl1pPr>
            <a:extLst/>
          </a:lstStyle>
          <a:p>
            <a:endParaRPr lang="ru-RU"/>
          </a:p>
        </p:txBody>
      </p:sp>
      <p:sp>
        <p:nvSpPr>
          <p:cNvPr id="36" name="Номер слайда 6"/>
          <p:cNvSpPr>
            <a:spLocks noGrp="1"/>
          </p:cNvSpPr>
          <p:nvPr>
            <p:ph type="sldNum" sz="quarter" idx="4"/>
          </p:nvPr>
        </p:nvSpPr>
        <p:spPr>
          <a:xfrm>
            <a:off x="8610600" y="55563"/>
            <a:ext cx="457200" cy="365125"/>
          </a:xfrm>
          <a:prstGeom prst="rect">
            <a:avLst/>
          </a:prstGeom>
        </p:spPr>
        <p:txBody>
          <a:bodyPr vert="horz" anchor="b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2"/>
                </a:solidFill>
                <a:latin typeface="+mn-lt"/>
              </a:defRPr>
            </a:lvl1pPr>
            <a:extLst/>
          </a:lstStyle>
          <a:p>
            <a:fld id="{BB53421C-3AAF-4578-B295-0545296E7FC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</p:sldLayoutIdLst>
  <mc:AlternateContent xmlns:mc="http://schemas.openxmlformats.org/markup-compatibility/2006" xmlns:p14="http://schemas.microsoft.com/office/powerpoint/2010/main">
    <mc:Choice Requires="p14">
      <p:transition spd="slow" p14:dur="2750" advClick="0" advTm="8000">
        <p14:gallery dir="l"/>
      </p:transition>
    </mc:Choice>
    <mc:Fallback xmlns="">
      <p:transition spd="slow" advClick="0" advTm="8000">
        <p:fade/>
      </p:transition>
    </mc:Fallback>
  </mc:AlternateConten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 spc="-100">
          <a:solidFill>
            <a:srgbClr val="C1EE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</a:defRPr>
      </a:lvl9pPr>
      <a:extLst/>
    </p:titleStyle>
    <p:bodyStyle>
      <a:lvl1pPr marL="411163" indent="-342900" algn="l" rtl="0" eaLnBrk="1" fontAlgn="base" hangingPunct="1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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9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9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9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9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9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1">
            <a:extLst>
              <a:ext uri="{FF2B5EF4-FFF2-40B4-BE49-F238E27FC236}">
                <a16:creationId xmlns:a16="http://schemas.microsoft.com/office/drawing/2014/main" id="{19EAB62C-7601-4E15-8E8B-A630C6ED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34438" y="5859792"/>
            <a:ext cx="911939" cy="365125"/>
          </a:xfrm>
        </p:spPr>
        <p:txBody>
          <a:bodyPr/>
          <a:lstStyle/>
          <a:p>
            <a:pPr rtl="0"/>
            <a:fld id="{03F90A9C-323C-4429-AE52-049736C99CF5}" type="datetime1">
              <a:rPr lang="ru-RU" smtClean="0"/>
              <a:t>14.10.2025</a:t>
            </a:fld>
            <a:endParaRPr lang="en-US" dirty="0"/>
          </a:p>
        </p:txBody>
      </p:sp>
      <p:pic>
        <p:nvPicPr>
          <p:cNvPr id="5" name="Рисунок 9">
            <a:extLst>
              <a:ext uri="{FF2B5EF4-FFF2-40B4-BE49-F238E27FC236}">
                <a16:creationId xmlns:a16="http://schemas.microsoft.com/office/drawing/2014/main" id="{AEEE79A1-AC28-48CD-8124-DB3547228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1" t="20546" r="15321" b="27090"/>
          <a:stretch>
            <a:fillRect/>
          </a:stretch>
        </p:blipFill>
        <p:spPr bwMode="auto">
          <a:xfrm>
            <a:off x="476378" y="4973483"/>
            <a:ext cx="658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11">
            <a:extLst>
              <a:ext uri="{FF2B5EF4-FFF2-40B4-BE49-F238E27FC236}">
                <a16:creationId xmlns:a16="http://schemas.microsoft.com/office/drawing/2014/main" id="{94FF550A-E2C2-4E6B-BC85-DFBCD3E252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5" t="20673" r="8195" b="23930"/>
          <a:stretch>
            <a:fillRect/>
          </a:stretch>
        </p:blipFill>
        <p:spPr bwMode="auto">
          <a:xfrm>
            <a:off x="458916" y="5508471"/>
            <a:ext cx="67627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6">
            <a:extLst>
              <a:ext uri="{FF2B5EF4-FFF2-40B4-BE49-F238E27FC236}">
                <a16:creationId xmlns:a16="http://schemas.microsoft.com/office/drawing/2014/main" id="{4B31F598-B9E0-48AA-BCE1-FA6E925BA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191" y="5467588"/>
            <a:ext cx="1979613" cy="46076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85800">
              <a:spcBef>
                <a:spcPct val="20000"/>
              </a:spcBef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Oziq-ovqat</a:t>
            </a:r>
            <a:r>
              <a:rPr lang="en-US" altLang="en-US" sz="1197" dirty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muhandisligi</a:t>
            </a:r>
            <a:r>
              <a:rPr lang="en-US" altLang="en-US" sz="1197" dirty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kafedrasi</a:t>
            </a:r>
            <a:r>
              <a:rPr lang="en-US" altLang="en-US" sz="1197" dirty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katta</a:t>
            </a:r>
            <a:r>
              <a:rPr lang="en-US" altLang="en-US" sz="1197" dirty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o’qituvchisi</a:t>
            </a:r>
            <a:endParaRPr lang="uz-Cyrl-UZ" altLang="en-US" sz="1197" dirty="0">
              <a:solidFill>
                <a:srgbClr val="000000"/>
              </a:solidFill>
              <a:latin typeface="Arial" panose="020B06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5ED56635-835F-4EBC-B9EF-D77B65B14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191" y="5079846"/>
            <a:ext cx="1789112" cy="240066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1200" dirty="0">
                <a:solidFill>
                  <a:srgbClr val="000000"/>
                </a:solidFill>
                <a:cs typeface="Calibri" panose="020F0502020204030204" pitchFamily="34" charset="0"/>
              </a:rPr>
              <a:t>  </a:t>
            </a:r>
            <a:r>
              <a:rPr lang="en-US" altLang="ru-RU" sz="1200" dirty="0" err="1">
                <a:solidFill>
                  <a:srgbClr val="000000"/>
                </a:solidFill>
                <a:cs typeface="Calibri" panose="020F0502020204030204" pitchFamily="34" charset="0"/>
              </a:rPr>
              <a:t>A.J.To’ychiyev</a:t>
            </a:r>
            <a:r>
              <a:rPr lang="en-US" altLang="ru-RU" sz="1200" dirty="0">
                <a:solidFill>
                  <a:srgbClr val="000000"/>
                </a:solidFill>
                <a:cs typeface="Calibri" panose="020F0502020204030204" pitchFamily="34" charset="0"/>
              </a:rPr>
              <a:t>. </a:t>
            </a:r>
            <a:endParaRPr lang="ru-RU" altLang="ru-RU" sz="12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C97A1E4-31B7-459B-8391-786222F53525}"/>
              </a:ext>
            </a:extLst>
          </p:cNvPr>
          <p:cNvSpPr>
            <a:spLocks noChangeAspect="1"/>
          </p:cNvSpPr>
          <p:nvPr/>
        </p:nvSpPr>
        <p:spPr>
          <a:xfrm>
            <a:off x="505392" y="3247010"/>
            <a:ext cx="7594999" cy="973137"/>
          </a:xfrm>
          <a:prstGeom prst="rect">
            <a:avLst/>
          </a:prstGeom>
          <a:solidFill>
            <a:srgbClr val="00009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defTabSz="68580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Times New Roman"/>
              <a:cs typeface="Arial" panose="020B0604020202020204" pitchFamily="34" charset="0"/>
            </a:endParaRPr>
          </a:p>
        </p:txBody>
      </p:sp>
      <p:sp>
        <p:nvSpPr>
          <p:cNvPr id="10" name="POWERPOINT TEMPLATE">
            <a:extLst>
              <a:ext uri="{FF2B5EF4-FFF2-40B4-BE49-F238E27FC236}">
                <a16:creationId xmlns:a16="http://schemas.microsoft.com/office/drawing/2014/main" id="{950EB90B-3781-4B96-BBDE-4AD6A5D2C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905" y="3356227"/>
            <a:ext cx="6199463" cy="919482"/>
          </a:xfrm>
          <a:prstGeom prst="rect">
            <a:avLst/>
          </a:prstGeom>
          <a:solidFill>
            <a:srgbClr val="000099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wrap="square" lIns="28575" tIns="28575" rIns="28575" bIns="28575" anchor="ctr">
            <a:spAutoFit/>
          </a:bodyPr>
          <a:lstStyle>
            <a:lvl1pPr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trubadagi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harakat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nazariyasi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POWERPOINT TEMPLATE">
            <a:extLst>
              <a:ext uri="{FF2B5EF4-FFF2-40B4-BE49-F238E27FC236}">
                <a16:creationId xmlns:a16="http://schemas.microsoft.com/office/drawing/2014/main" id="{ECE517C2-7364-4A4C-90DB-2CB9675BA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93" y="3273204"/>
            <a:ext cx="890528" cy="99695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ru-RU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MAVZU </a:t>
            </a:r>
            <a:r>
              <a:rPr lang="en-US" altLang="ru-RU" sz="4500" b="1" dirty="0">
                <a:solidFill>
                  <a:srgbClr val="FFFFFF"/>
                </a:solidFill>
                <a:cs typeface="Arial" panose="020B0604020202020204" pitchFamily="34" charset="0"/>
                <a:sym typeface="Arial" panose="020B0604020202020204" pitchFamily="34" charset="0"/>
              </a:rPr>
              <a:t>06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99F1CB6-2011-4A77-9B07-9268410F0CDF}"/>
              </a:ext>
            </a:extLst>
          </p:cNvPr>
          <p:cNvSpPr>
            <a:spLocks noChangeAspect="1"/>
          </p:cNvSpPr>
          <p:nvPr/>
        </p:nvSpPr>
        <p:spPr>
          <a:xfrm>
            <a:off x="1664568" y="1916520"/>
            <a:ext cx="5733902" cy="1171575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defTabSz="68580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Times New Roman"/>
              <a:cs typeface="Arial" panose="020B0604020202020204" pitchFamily="34" charset="0"/>
            </a:endParaRPr>
          </a:p>
        </p:txBody>
      </p:sp>
      <p:sp>
        <p:nvSpPr>
          <p:cNvPr id="13" name="POWERPOINT TEMPLATE">
            <a:extLst>
              <a:ext uri="{FF2B5EF4-FFF2-40B4-BE49-F238E27FC236}">
                <a16:creationId xmlns:a16="http://schemas.microsoft.com/office/drawing/2014/main" id="{FED5D1E2-B580-4FB6-B713-2BC986AC6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985" y="2332401"/>
            <a:ext cx="3941688" cy="390107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altLang="ru-RU" sz="2400" dirty="0">
                <a:solidFill>
                  <a:srgbClr val="FFFF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GIDRAVLIKA </a:t>
            </a:r>
            <a:endParaRPr lang="ru-RU" altLang="ru-RU" sz="2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OWERPOINT TEMPLATE">
            <a:extLst>
              <a:ext uri="{FF2B5EF4-FFF2-40B4-BE49-F238E27FC236}">
                <a16:creationId xmlns:a16="http://schemas.microsoft.com/office/drawing/2014/main" id="{ED03D0F3-83E1-45A7-86E6-EB2880C91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220" y="2242751"/>
            <a:ext cx="1027113" cy="519112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575" tIns="28575" rIns="28575" bIns="28575" anchor="ctr">
            <a:spAutoFit/>
          </a:bodyPr>
          <a:lstStyle>
            <a:lvl1pPr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ru-RU" sz="3000" b="1" dirty="0">
                <a:solidFill>
                  <a:srgbClr val="FFFFFF"/>
                </a:solidFill>
                <a:cs typeface="Arial" panose="020B0604020202020204" pitchFamily="34" charset="0"/>
                <a:sym typeface="Arial" panose="020B0604020202020204" pitchFamily="34" charset="0"/>
              </a:rPr>
              <a:t>FAN</a:t>
            </a:r>
            <a:r>
              <a:rPr lang="ru-RU" altLang="ru-RU" sz="3000" b="1" dirty="0">
                <a:solidFill>
                  <a:srgbClr val="FFFFFF"/>
                </a:solidFill>
                <a:cs typeface="Arial" panose="020B0604020202020204" pitchFamily="34" charset="0"/>
                <a:sym typeface="Arial" panose="020B0604020202020204" pitchFamily="34" charset="0"/>
              </a:rPr>
              <a:t>:</a:t>
            </a:r>
            <a:endParaRPr lang="en-US" altLang="ru-RU" sz="6000" b="1" dirty="0">
              <a:solidFill>
                <a:srgbClr val="FFFFFF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ED40A345-FB25-47FC-A9F1-E7302EA63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573984"/>
              </p:ext>
            </p:extLst>
          </p:nvPr>
        </p:nvGraphicFramePr>
        <p:xfrm>
          <a:off x="2022266" y="388485"/>
          <a:ext cx="5356225" cy="973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313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2400" dirty="0">
                          <a:effectLst/>
                        </a:rPr>
                        <a:t>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QARSHI DAVLAT TEXNIKA UNIVERSITETI</a:t>
                      </a:r>
                      <a:endParaRPr lang="ru-RU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35" marR="58635" marT="0" marB="0">
                    <a:solidFill>
                      <a:srgbClr val="CA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6" name="Picture 1079">
            <a:extLst>
              <a:ext uri="{FF2B5EF4-FFF2-40B4-BE49-F238E27FC236}">
                <a16:creationId xmlns:a16="http://schemas.microsoft.com/office/drawing/2014/main" id="{4080E583-EDAD-48FE-BB87-CBEBF11C3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78491" y="378960"/>
            <a:ext cx="1357312" cy="99218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B134993-A4B8-43ED-82B9-63D4B10B064C}"/>
              </a:ext>
            </a:extLst>
          </p:cNvPr>
          <p:cNvPicPr/>
          <p:nvPr/>
        </p:nvPicPr>
        <p:blipFill rotWithShape="1">
          <a:blip r:embed="rId5"/>
          <a:srcRect l="12700" t="19841" r="78450" b="66248"/>
          <a:stretch/>
        </p:blipFill>
        <p:spPr bwMode="auto">
          <a:xfrm>
            <a:off x="937541" y="388485"/>
            <a:ext cx="1013596" cy="9731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E77D0E4-E30B-4374-A6C5-5AE416E8E492}"/>
              </a:ext>
            </a:extLst>
          </p:cNvPr>
          <p:cNvPicPr/>
          <p:nvPr/>
        </p:nvPicPr>
        <p:blipFill rotWithShape="1">
          <a:blip r:embed="rId6"/>
          <a:srcRect l="39827" t="35804" r="39486" b="26340"/>
          <a:stretch/>
        </p:blipFill>
        <p:spPr bwMode="auto">
          <a:xfrm>
            <a:off x="5682094" y="4484664"/>
            <a:ext cx="3392793" cy="230924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4969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Click="0" advTm="8000">
        <p14:gallery dir="l"/>
      </p:transition>
    </mc:Choice>
    <mc:Fallback xmlns="">
      <p:transition spd="slow" advClick="0" advTm="8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00034" y="511162"/>
            <a:ext cx="8032406" cy="3709926"/>
          </a:xfrm>
        </p:spPr>
        <p:txBody>
          <a:bodyPr/>
          <a:lstStyle/>
          <a:p>
            <a:pPr algn="ctr"/>
            <a:r>
              <a:rPr lang="en-US" sz="4800" b="1" dirty="0">
                <a:effectLst/>
              </a:rPr>
              <a:t>6-mavzu</a:t>
            </a:r>
            <a:r>
              <a:rPr lang="ru-RU" sz="4800" b="1" dirty="0">
                <a:effectLst/>
              </a:rPr>
              <a:t>: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trubadagi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harakat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nazariyasi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oqishi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altLang="ru-RU" sz="4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800" b="1" dirty="0"/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074576"/>
              </p:ext>
            </p:extLst>
          </p:nvPr>
        </p:nvGraphicFramePr>
        <p:xfrm>
          <a:off x="4029113" y="4293096"/>
          <a:ext cx="4535487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Формула" r:id="rId3" imgW="876300" imgH="457200" progId="Equation.3">
                  <p:embed/>
                </p:oleObj>
              </mc:Choice>
              <mc:Fallback>
                <p:oleObj name="Формула" r:id="rId3" imgW="87630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113" y="4293096"/>
                        <a:ext cx="4535487" cy="2387600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298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 advClick="0" advTm="8000">
        <p14:gallery dir="l"/>
      </p:transition>
    </mc:Choice>
    <mc:Fallback xmlns="">
      <p:transition spd="slow" advClick="0" advTm="8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z-Cyrl-UZ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Rеja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z-Cyrl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Napor yo`qolishi haqida umumiy tushunchalar.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Turbulent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harakatlanayotgan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taqsimlanishi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gadir-budirligi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Nikur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442287"/>
      </p:ext>
    </p:extLst>
  </p:cSld>
  <p:clrMapOvr>
    <a:masterClrMapping/>
  </p:clrMapOvr>
  <p:transition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59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yo`qolishi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tushunchalar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27374"/>
            <a:ext cx="8229600" cy="4525962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davomida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o`zgarishi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parraklarini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ltirib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rgiyasi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ostidagi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vorlarida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vibratsiyaning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bo`lishi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rgiyasining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kamayishiga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751484"/>
      </p:ext>
    </p:extLst>
  </p:cSld>
  <p:clrMapOvr>
    <a:masterClrMapping/>
  </p:clrMapOvr>
  <p:transition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752528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Biz, 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yo`qolishlariga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e'tibor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rmasdan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davomida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o`tish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sarflagan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rgiyasini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o`rganish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shug`ullanamiz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mavzularda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rnulli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nglamasini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o`rganish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biz 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tutganmiz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918677"/>
      </p:ext>
    </p:extLst>
  </p:cSld>
  <p:clrMapOvr>
    <a:masterClrMapping/>
  </p:clrMapOvr>
  <p:transition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836712"/>
            <a:ext cx="8229600" cy="4709160"/>
          </a:xfrm>
        </p:spPr>
        <p:txBody>
          <a:bodyPr/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xuddi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yotg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lishini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niql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shdir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nishni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rshilikl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ngishg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bo`lishi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549698"/>
      </p:ext>
    </p:extLst>
  </p:cSld>
  <p:clrMapOvr>
    <a:masterClrMapping/>
  </p:clrMapOvr>
  <p:transition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4968552"/>
          </a:xfrm>
        </p:spPr>
        <p:txBody>
          <a:bodyPr/>
          <a:lstStyle/>
          <a:p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bo`yicha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bo`ylab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taqsimlansa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bo`ylab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taqsimlanishi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bo`ylab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harfi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lgilaymiz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bo’yl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vjud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v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jimig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g’liqdir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80468"/>
      </p:ext>
    </p:extLst>
  </p:cSld>
  <p:clrMapOvr>
    <a:masterClrMapping/>
  </p:clrMapOvr>
  <p:transition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548680"/>
            <a:ext cx="8229600" cy="470916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yotg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rshilikl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 v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zligi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di. Bu 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yo’q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tishig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о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 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di. 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bo’yl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nishg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rsi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-V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ysb</a:t>
            </a:r>
            <a:r>
              <a:rPr lang="ru-RU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ах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niql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304460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60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978334"/>
              </p:ext>
            </p:extLst>
          </p:nvPr>
        </p:nvGraphicFramePr>
        <p:xfrm>
          <a:off x="2699792" y="4064024"/>
          <a:ext cx="4536504" cy="2387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Формула" r:id="rId3" imgW="876300" imgH="457200" progId="Equation.3">
                  <p:embed/>
                </p:oleObj>
              </mc:Choice>
              <mc:Fallback>
                <p:oleObj name="Формула" r:id="rId3" imgW="87630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4064024"/>
                        <a:ext cx="4536504" cy="2387632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6228488"/>
      </p:ext>
    </p:extLst>
  </p:cSld>
  <p:clrMapOvr>
    <a:masterClrMapping/>
  </p:clrMapOvr>
  <p:transition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096104"/>
            <a:ext cx="8229600" cy="470916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effisi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ekviv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tri, m;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m/s.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405671"/>
      </p:ext>
    </p:extLst>
  </p:cSld>
  <p:clrMapOvr>
    <a:masterClrMapping/>
  </p:clrMapOvr>
  <p:transition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824536"/>
          </a:xfrm>
        </p:spPr>
        <p:txBody>
          <a:bodyPr>
            <a:normAutofit/>
          </a:bodyPr>
          <a:lstStyle/>
          <a:p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ko`rinishdagi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harakatlanayotgan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o`zanning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ayrim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qismlarida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formasiyaga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uchrashi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ro`y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burilish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boshqaruv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qurilmalari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jo’mr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klapan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zadvijka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tirs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o`rnatilgan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to`siqlarni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sarflagan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(7.1-r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lgilanadi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768219"/>
      </p:ext>
    </p:extLst>
  </p:cSld>
  <p:clrMapOvr>
    <a:masterClrMapping/>
  </p:clrMapOvr>
  <p:transition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Безымянный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836712"/>
            <a:ext cx="7704856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1402496"/>
      </p:ext>
    </p:extLst>
  </p:cSld>
  <p:clrMapOvr>
    <a:masterClrMapping/>
  </p:clrMapOvr>
  <p:transition>
    <p:wedg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548680"/>
            <a:ext cx="7772400" cy="914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rshilikl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1881336"/>
            <a:ext cx="7772400" cy="4572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rshilikl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о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 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rshilik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effisi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3716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188660"/>
              </p:ext>
            </p:extLst>
          </p:nvPr>
        </p:nvGraphicFramePr>
        <p:xfrm>
          <a:off x="3275856" y="3344415"/>
          <a:ext cx="1478128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Формула" r:id="rId3" imgW="825142" imgH="444307" progId="Equation.3">
                  <p:embed/>
                </p:oleObj>
              </mc:Choice>
              <mc:Fallback>
                <p:oleObj name="Формула" r:id="rId3" imgW="825142" imgH="444307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344415"/>
                        <a:ext cx="1478128" cy="864096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560933"/>
      </p:ext>
    </p:extLst>
  </p:cSld>
  <p:clrMapOvr>
    <a:masterClrMapping/>
  </p:clrMapOvr>
  <p:transition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709160"/>
          </a:xfrm>
        </p:spPr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kuchlanishi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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taqsimlangan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taqsimlanish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bo`yicha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notеkis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taqsimlanish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62067"/>
      </p:ext>
    </p:extLst>
  </p:cSld>
  <p:clrMapOvr>
    <a:masterClrMapping/>
  </p:clrMapOvr>
  <p:transition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2-2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kеsimlar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bo`yicha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uchastkalarda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formasiyasi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o`zgaruvchan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381199"/>
      </p:ext>
    </p:extLst>
  </p:cSld>
  <p:clrMapOvr>
    <a:masterClrMapping/>
  </p:clrMapOvr>
  <p:transition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525962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ta'kidlash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tеkis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taqsimlansa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taqsimlanish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notеkis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84762"/>
      </p:ext>
    </p:extLst>
  </p:cSld>
  <p:clrMapOvr>
    <a:masterClrMapping/>
  </p:clrMapOvr>
  <p:transition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764704"/>
            <a:ext cx="8229600" cy="5976664"/>
          </a:xfrm>
        </p:spPr>
        <p:txBody>
          <a:bodyPr/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Ko`pgina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hollarda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uzunligidan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ancha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bo`lganligi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hisoblarda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hisobga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olmasdan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bo`yicha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yo`qolishni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bo`yicha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qaralayotgan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oralig`idagi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naporining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ko`rinishda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yoziladi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-169277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 sz="160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42183"/>
              </p:ext>
            </p:extLst>
          </p:nvPr>
        </p:nvGraphicFramePr>
        <p:xfrm>
          <a:off x="2455401" y="4797152"/>
          <a:ext cx="4852903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Формула" r:id="rId3" imgW="1054100" imgH="254000" progId="Equation.3">
                  <p:embed/>
                </p:oleObj>
              </mc:Choice>
              <mc:Fallback>
                <p:oleObj name="Формула" r:id="rId3" imgW="1054100" imgH="2540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401" y="4797152"/>
                        <a:ext cx="4852903" cy="1152128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2962059"/>
      </p:ext>
    </p:extLst>
  </p:cSld>
  <p:clrMapOvr>
    <a:masterClrMapping/>
  </p:clrMapOvr>
  <p:transition>
    <p:wedg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808072"/>
            <a:ext cx="8229600" cy="470916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rshilikni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demak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775639"/>
              </p:ext>
            </p:extLst>
          </p:nvPr>
        </p:nvGraphicFramePr>
        <p:xfrm>
          <a:off x="634363" y="2708920"/>
          <a:ext cx="7875274" cy="2448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Формула" r:id="rId3" imgW="1536700" imgH="482600" progId="Equation.3">
                  <p:embed/>
                </p:oleObj>
              </mc:Choice>
              <mc:Fallback>
                <p:oleObj name="Формула" r:id="rId3" imgW="1536700" imgH="482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363" y="2708920"/>
                        <a:ext cx="7875274" cy="2448272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244357"/>
      </p:ext>
    </p:extLst>
  </p:cSld>
  <p:clrMapOvr>
    <a:masterClrMapping/>
  </p:clrMapOvr>
  <p:transition>
    <p:wedg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2"/>
          </a:xfrm>
        </p:spPr>
        <p:txBody>
          <a:bodyPr/>
          <a:lstStyle/>
          <a:p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yerda</a:t>
            </a:r>
            <a:r>
              <a:rPr lang="ru-RU" dirty="0"/>
              <a:t>: </a:t>
            </a:r>
            <a:r>
              <a:rPr lang="ru-RU" dirty="0">
                <a:sym typeface="Symbol"/>
              </a:rPr>
              <a:t></a:t>
            </a:r>
            <a:r>
              <a:rPr lang="ru-RU" dirty="0"/>
              <a:t> - </a:t>
            </a:r>
            <a:r>
              <a:rPr lang="en-US" dirty="0"/>
              <a:t>o</a:t>
            </a:r>
            <a:r>
              <a:rPr lang="ru-RU" dirty="0"/>
              <a:t>’</a:t>
            </a:r>
            <a:r>
              <a:rPr lang="en-US" dirty="0" err="1"/>
              <a:t>lch</a:t>
            </a:r>
            <a:r>
              <a:rPr lang="ru-RU" dirty="0"/>
              <a:t>а</a:t>
            </a:r>
            <a:r>
              <a:rPr lang="en-US" dirty="0" err="1"/>
              <a:t>msiz</a:t>
            </a:r>
            <a:r>
              <a:rPr lang="en-US" dirty="0"/>
              <a:t> k</a:t>
            </a:r>
            <a:r>
              <a:rPr lang="ru-RU" dirty="0"/>
              <a:t>а</a:t>
            </a:r>
            <a:r>
              <a:rPr lang="en-US" dirty="0" err="1"/>
              <a:t>tt</a:t>
            </a:r>
            <a:r>
              <a:rPr lang="ru-RU" dirty="0"/>
              <a:t>а</a:t>
            </a:r>
            <a:r>
              <a:rPr lang="en-US" dirty="0" err="1"/>
              <a:t>lik</a:t>
            </a:r>
            <a:r>
              <a:rPr lang="en-US" dirty="0"/>
              <a:t> </a:t>
            </a:r>
            <a:r>
              <a:rPr lang="en-US" dirty="0" err="1"/>
              <a:t>bo</a:t>
            </a:r>
            <a:r>
              <a:rPr lang="ru-RU" dirty="0"/>
              <a:t>’</a:t>
            </a:r>
            <a:r>
              <a:rPr lang="en-US" dirty="0"/>
              <a:t>lib</a:t>
            </a:r>
            <a:r>
              <a:rPr lang="ru-RU" dirty="0"/>
              <a:t>, </a:t>
            </a:r>
            <a:r>
              <a:rPr lang="en-US" dirty="0" err="1"/>
              <a:t>uning</a:t>
            </a:r>
            <a:r>
              <a:rPr lang="en-US" dirty="0"/>
              <a:t> </a:t>
            </a:r>
            <a:r>
              <a:rPr lang="en-US" dirty="0" err="1"/>
              <a:t>miqd</a:t>
            </a:r>
            <a:r>
              <a:rPr lang="ru-RU" dirty="0"/>
              <a:t>о</a:t>
            </a:r>
            <a:r>
              <a:rPr lang="en-US" dirty="0" err="1"/>
              <a:t>ri</a:t>
            </a:r>
            <a:r>
              <a:rPr lang="en-US" dirty="0"/>
              <a:t> h</a:t>
            </a:r>
            <a:r>
              <a:rPr lang="ru-RU" dirty="0"/>
              <a:t>а</a:t>
            </a:r>
            <a:r>
              <a:rPr lang="en-US" dirty="0"/>
              <a:t>r</a:t>
            </a:r>
            <a:r>
              <a:rPr lang="ru-RU" dirty="0"/>
              <a:t>а</a:t>
            </a:r>
            <a:r>
              <a:rPr lang="en-US" dirty="0"/>
              <a:t>k</a:t>
            </a:r>
            <a:r>
              <a:rPr lang="ru-RU" dirty="0"/>
              <a:t>а</a:t>
            </a:r>
            <a:r>
              <a:rPr lang="en-US" dirty="0"/>
              <a:t>t r</a:t>
            </a:r>
            <a:r>
              <a:rPr lang="ru-RU" dirty="0"/>
              <a:t>е</a:t>
            </a:r>
            <a:r>
              <a:rPr lang="en-US" dirty="0" err="1"/>
              <a:t>jimig</a:t>
            </a:r>
            <a:r>
              <a:rPr lang="ru-RU" dirty="0"/>
              <a:t>а, </a:t>
            </a:r>
            <a:r>
              <a:rPr lang="en-US" dirty="0" err="1"/>
              <a:t>quvurni</a:t>
            </a:r>
            <a:r>
              <a:rPr lang="en-US" dirty="0"/>
              <a:t> g</a:t>
            </a:r>
            <a:r>
              <a:rPr lang="ru-RU" dirty="0"/>
              <a:t>’а</a:t>
            </a:r>
            <a:r>
              <a:rPr lang="en-US" dirty="0" err="1"/>
              <a:t>dir</a:t>
            </a:r>
            <a:r>
              <a:rPr lang="ru-RU" dirty="0"/>
              <a:t>-</a:t>
            </a:r>
            <a:r>
              <a:rPr lang="en-US" dirty="0" err="1"/>
              <a:t>budirligig</a:t>
            </a:r>
            <a:r>
              <a:rPr lang="ru-RU" dirty="0"/>
              <a:t>а </a:t>
            </a:r>
            <a:r>
              <a:rPr lang="en-US" dirty="0"/>
              <a:t>b</a:t>
            </a:r>
            <a:r>
              <a:rPr lang="ru-RU" dirty="0"/>
              <a:t>о</a:t>
            </a:r>
            <a:r>
              <a:rPr lang="en-US" dirty="0"/>
              <a:t>g</a:t>
            </a:r>
            <a:r>
              <a:rPr lang="ru-RU" dirty="0"/>
              <a:t>’</a:t>
            </a:r>
            <a:r>
              <a:rPr lang="en-US" dirty="0" err="1"/>
              <a:t>liq</a:t>
            </a:r>
            <a:r>
              <a:rPr lang="ru-RU" dirty="0"/>
              <a:t>.</a:t>
            </a:r>
            <a:r>
              <a:rPr lang="en-US" dirty="0"/>
              <a:t>   </a:t>
            </a:r>
            <a:endParaRPr lang="ru-RU" dirty="0"/>
          </a:p>
          <a:p>
            <a:r>
              <a:rPr lang="en-US" sz="8000" i="1" dirty="0">
                <a:sym typeface="Symbol"/>
              </a:rPr>
              <a:t>     </a:t>
            </a:r>
            <a:r>
              <a:rPr lang="ru-RU" sz="8000" i="1" dirty="0">
                <a:sym typeface="Symbol"/>
              </a:rPr>
              <a:t></a:t>
            </a:r>
            <a:r>
              <a:rPr lang="en-US" sz="8000" i="1" dirty="0"/>
              <a:t>=f(Re,</a:t>
            </a:r>
            <a:r>
              <a:rPr lang="ru-RU" sz="8000" i="1" dirty="0">
                <a:sym typeface="Symbol"/>
              </a:rPr>
              <a:t></a:t>
            </a:r>
            <a:r>
              <a:rPr lang="en-US" sz="8000" i="1" dirty="0"/>
              <a:t>)</a:t>
            </a:r>
            <a:endParaRPr lang="ru-RU" sz="8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4641353"/>
      </p:ext>
    </p:extLst>
  </p:cSld>
  <p:clrMapOvr>
    <a:masterClrMapping/>
  </p:clrMapOvr>
  <p:transition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2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dir-budurlik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dir-budurlik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dir-budurlikl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245929"/>
              </p:ext>
            </p:extLst>
          </p:nvPr>
        </p:nvGraphicFramePr>
        <p:xfrm>
          <a:off x="2699792" y="3047330"/>
          <a:ext cx="3888432" cy="2601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Формула" r:id="rId3" imgW="457200" imgH="431800" progId="Equation.3">
                  <p:embed/>
                </p:oleObj>
              </mc:Choice>
              <mc:Fallback>
                <p:oleObj name="Формула" r:id="rId3" imgW="457200" imgH="4318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3047330"/>
                        <a:ext cx="3888432" cy="2601732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2203659"/>
      </p:ext>
    </p:extLst>
  </p:cSld>
  <p:clrMapOvr>
    <a:masterClrMapping/>
  </p:clrMapOvr>
  <p:transition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696"/>
            <a:ext cx="8229600" cy="5976704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g’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dir-budurlik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po’l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=0,2mm,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cho’yan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=1,4mm, 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9mm,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po’l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&gt;0,67mm, 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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=0,0015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0,01mm.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tushuntirish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xanik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issiqlikka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isiydi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Issiqlik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o`tishi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tarqalib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Yuqoridagiga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asolanib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bo`g`inlardan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mahalliy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issiqlikka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yo`qolishi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900037"/>
      </p:ext>
    </p:extLst>
  </p:cSld>
  <p:clrMapOvr>
    <a:masterClrMapping/>
  </p:clrMapOvr>
  <p:transition>
    <p:wedg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764704"/>
            <a:ext cx="8229600" cy="470916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o`rganish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ko`pincha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atamasiga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holatdagi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bo`ladigan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o`rinlidir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suyuqliklarda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nolga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qilganligimiz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qarshiliklar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160724"/>
      </p:ext>
    </p:extLst>
  </p:cSld>
  <p:clrMapOvr>
    <a:masterClrMapping/>
  </p:clrMapOvr>
  <p:transition>
    <p:wedge/>
  </p:transition>
</p:sld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Тема40">
  <a:themeElements>
    <a:clrScheme name="">
      <a:dk1>
        <a:srgbClr val="000000"/>
      </a:dk1>
      <a:lt1>
        <a:srgbClr val="000099"/>
      </a:lt1>
      <a:dk2>
        <a:srgbClr val="000066"/>
      </a:dk2>
      <a:lt2>
        <a:srgbClr val="C0C0C0"/>
      </a:lt2>
      <a:accent1>
        <a:srgbClr val="FF3399"/>
      </a:accent1>
      <a:accent2>
        <a:srgbClr val="99CCFF"/>
      </a:accent2>
      <a:accent3>
        <a:srgbClr val="AAAACA"/>
      </a:accent3>
      <a:accent4>
        <a:srgbClr val="000000"/>
      </a:accent4>
      <a:accent5>
        <a:srgbClr val="FFADCA"/>
      </a:accent5>
      <a:accent6>
        <a:srgbClr val="8AB9E7"/>
      </a:accent6>
      <a:hlink>
        <a:srgbClr val="FF5050"/>
      </a:hlink>
      <a:folHlink>
        <a:srgbClr val="FFFF99"/>
      </a:folHlink>
    </a:clrScheme>
    <a:fontScheme name="1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lormaster">
  <a:themeElements>
    <a:clrScheme name="">
      <a:dk1>
        <a:srgbClr val="000000"/>
      </a:dk1>
      <a:lt1>
        <a:srgbClr val="000099"/>
      </a:lt1>
      <a:dk2>
        <a:srgbClr val="000066"/>
      </a:dk2>
      <a:lt2>
        <a:srgbClr val="C0C0C0"/>
      </a:lt2>
      <a:accent1>
        <a:srgbClr val="FF3399"/>
      </a:accent1>
      <a:accent2>
        <a:srgbClr val="99CCFF"/>
      </a:accent2>
      <a:accent3>
        <a:srgbClr val="AAAACA"/>
      </a:accent3>
      <a:accent4>
        <a:srgbClr val="000000"/>
      </a:accent4>
      <a:accent5>
        <a:srgbClr val="FFADCA"/>
      </a:accent5>
      <a:accent6>
        <a:srgbClr val="8AB9E7"/>
      </a:accent6>
      <a:hlink>
        <a:srgbClr val="FF5050"/>
      </a:hlink>
      <a:folHlink>
        <a:srgbClr val="FFFF99"/>
      </a:folHlink>
    </a:clrScheme>
    <a:fontScheme name="2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colormaster">
  <a:themeElements>
    <a:clrScheme name="">
      <a:dk1>
        <a:srgbClr val="C0C0C0"/>
      </a:dk1>
      <a:lt1>
        <a:srgbClr val="FFFFFF"/>
      </a:lt1>
      <a:dk2>
        <a:srgbClr val="3366CC"/>
      </a:dk2>
      <a:lt2>
        <a:srgbClr val="CCECFF"/>
      </a:lt2>
      <a:accent1>
        <a:srgbClr val="29A329"/>
      </a:accent1>
      <a:accent2>
        <a:srgbClr val="00FFFF"/>
      </a:accent2>
      <a:accent3>
        <a:srgbClr val="ADB8E2"/>
      </a:accent3>
      <a:accent4>
        <a:srgbClr val="DADADA"/>
      </a:accent4>
      <a:accent5>
        <a:srgbClr val="ACCEAC"/>
      </a:accent5>
      <a:accent6>
        <a:srgbClr val="00E7E7"/>
      </a:accent6>
      <a:hlink>
        <a:srgbClr val="3B6AFF"/>
      </a:hlink>
      <a:folHlink>
        <a:srgbClr val="FF9900"/>
      </a:folHlink>
    </a:clrScheme>
    <a:fontScheme name="3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colormaster">
  <a:themeElements>
    <a:clrScheme name="">
      <a:dk1>
        <a:srgbClr val="000000"/>
      </a:dk1>
      <a:lt1>
        <a:srgbClr val="3366CC"/>
      </a:lt1>
      <a:dk2>
        <a:srgbClr val="003366"/>
      </a:dk2>
      <a:lt2>
        <a:srgbClr val="C0C0C0"/>
      </a:lt2>
      <a:accent1>
        <a:srgbClr val="29A329"/>
      </a:accent1>
      <a:accent2>
        <a:srgbClr val="00FFFF"/>
      </a:accent2>
      <a:accent3>
        <a:srgbClr val="ADB8E2"/>
      </a:accent3>
      <a:accent4>
        <a:srgbClr val="000000"/>
      </a:accent4>
      <a:accent5>
        <a:srgbClr val="ACCEAC"/>
      </a:accent5>
      <a:accent6>
        <a:srgbClr val="00E7E7"/>
      </a:accent6>
      <a:hlink>
        <a:srgbClr val="3B6AFF"/>
      </a:hlink>
      <a:folHlink>
        <a:srgbClr val="FF9900"/>
      </a:folHlink>
    </a:clrScheme>
    <a:fontScheme name="4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colormaster">
  <a:themeElements>
    <a:clrScheme name="">
      <a:dk1>
        <a:srgbClr val="000000"/>
      </a:dk1>
      <a:lt1>
        <a:srgbClr val="3366CC"/>
      </a:lt1>
      <a:dk2>
        <a:srgbClr val="003366"/>
      </a:dk2>
      <a:lt2>
        <a:srgbClr val="C0C0C0"/>
      </a:lt2>
      <a:accent1>
        <a:srgbClr val="29A329"/>
      </a:accent1>
      <a:accent2>
        <a:srgbClr val="00FFFF"/>
      </a:accent2>
      <a:accent3>
        <a:srgbClr val="ADB8E2"/>
      </a:accent3>
      <a:accent4>
        <a:srgbClr val="000000"/>
      </a:accent4>
      <a:accent5>
        <a:srgbClr val="ACCEAC"/>
      </a:accent5>
      <a:accent6>
        <a:srgbClr val="00E7E7"/>
      </a:accent6>
      <a:hlink>
        <a:srgbClr val="3B6AFF"/>
      </a:hlink>
      <a:folHlink>
        <a:srgbClr val="FF9900"/>
      </a:folHlink>
    </a:clrScheme>
    <a:fontScheme name="5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colormaster">
  <a:themeElements>
    <a:clrScheme name="6_colormaster 3">
      <a:dk1>
        <a:srgbClr val="C0C0C0"/>
      </a:dk1>
      <a:lt1>
        <a:srgbClr val="FFFFFF"/>
      </a:lt1>
      <a:dk2>
        <a:srgbClr val="800000"/>
      </a:dk2>
      <a:lt2>
        <a:srgbClr val="FFCC99"/>
      </a:lt2>
      <a:accent1>
        <a:srgbClr val="FF9900"/>
      </a:accent1>
      <a:accent2>
        <a:srgbClr val="CC0000"/>
      </a:accent2>
      <a:accent3>
        <a:srgbClr val="C0AAAA"/>
      </a:accent3>
      <a:accent4>
        <a:srgbClr val="DADADA"/>
      </a:accent4>
      <a:accent5>
        <a:srgbClr val="FFCAAA"/>
      </a:accent5>
      <a:accent6>
        <a:srgbClr val="B90000"/>
      </a:accent6>
      <a:hlink>
        <a:srgbClr val="FF33CC"/>
      </a:hlink>
      <a:folHlink>
        <a:srgbClr val="FFCC00"/>
      </a:folHlink>
    </a:clrScheme>
    <a:fontScheme name="6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6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colormaster">
  <a:themeElements>
    <a:clrScheme name="">
      <a:dk1>
        <a:srgbClr val="000000"/>
      </a:dk1>
      <a:lt1>
        <a:srgbClr val="800000"/>
      </a:lt1>
      <a:dk2>
        <a:srgbClr val="800000"/>
      </a:dk2>
      <a:lt2>
        <a:srgbClr val="C0C0C0"/>
      </a:lt2>
      <a:accent1>
        <a:srgbClr val="FF9900"/>
      </a:accent1>
      <a:accent2>
        <a:srgbClr val="CC0000"/>
      </a:accent2>
      <a:accent3>
        <a:srgbClr val="C0AAAA"/>
      </a:accent3>
      <a:accent4>
        <a:srgbClr val="000000"/>
      </a:accent4>
      <a:accent5>
        <a:srgbClr val="FFCAAA"/>
      </a:accent5>
      <a:accent6>
        <a:srgbClr val="B90000"/>
      </a:accent6>
      <a:hlink>
        <a:srgbClr val="FF33CC"/>
      </a:hlink>
      <a:folHlink>
        <a:srgbClr val="FFCC00"/>
      </a:folHlink>
    </a:clrScheme>
    <a:fontScheme name="7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7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colormaster">
  <a:themeElements>
    <a:clrScheme name="">
      <a:dk1>
        <a:srgbClr val="000000"/>
      </a:dk1>
      <a:lt1>
        <a:srgbClr val="800000"/>
      </a:lt1>
      <a:dk2>
        <a:srgbClr val="800000"/>
      </a:dk2>
      <a:lt2>
        <a:srgbClr val="C0C0C0"/>
      </a:lt2>
      <a:accent1>
        <a:srgbClr val="FF9900"/>
      </a:accent1>
      <a:accent2>
        <a:srgbClr val="CC0000"/>
      </a:accent2>
      <a:accent3>
        <a:srgbClr val="C0AAAA"/>
      </a:accent3>
      <a:accent4>
        <a:srgbClr val="000000"/>
      </a:accent4>
      <a:accent5>
        <a:srgbClr val="FFCAAA"/>
      </a:accent5>
      <a:accent6>
        <a:srgbClr val="B90000"/>
      </a:accent6>
      <a:hlink>
        <a:srgbClr val="FF33CC"/>
      </a:hlink>
      <a:folHlink>
        <a:srgbClr val="FFCC00"/>
      </a:folHlink>
    </a:clrScheme>
    <a:fontScheme name="8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8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Тема51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Метро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Тема40</Template>
  <TotalTime>37</TotalTime>
  <Words>1454</Words>
  <Application>Microsoft Office PowerPoint</Application>
  <PresentationFormat>Экран (4:3)</PresentationFormat>
  <Paragraphs>47</Paragraphs>
  <Slides>21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9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8" baseType="lpstr">
      <vt:lpstr>Arial</vt:lpstr>
      <vt:lpstr>Calibri</vt:lpstr>
      <vt:lpstr>Consolas</vt:lpstr>
      <vt:lpstr>Times New Roman</vt:lpstr>
      <vt:lpstr>Wingdings</vt:lpstr>
      <vt:lpstr>Wingdings 2</vt:lpstr>
      <vt:lpstr>Wingdings 3</vt:lpstr>
      <vt:lpstr>Тема40</vt:lpstr>
      <vt:lpstr>2_colormaster</vt:lpstr>
      <vt:lpstr>3_colormaster</vt:lpstr>
      <vt:lpstr>4_colormaster</vt:lpstr>
      <vt:lpstr>5_colormaster</vt:lpstr>
      <vt:lpstr>6_colormaster</vt:lpstr>
      <vt:lpstr>7_colormaster</vt:lpstr>
      <vt:lpstr>8_colormaster</vt:lpstr>
      <vt:lpstr>Тема51</vt:lpstr>
      <vt:lpstr>Формула</vt:lpstr>
      <vt:lpstr>Презентация PowerPoint</vt:lpstr>
      <vt:lpstr>6-mavzu: Suyuqlikning trubadagi harakat nazariyasi. Suyuqlikning oqishi. </vt:lpstr>
      <vt:lpstr>Rеja:</vt:lpstr>
      <vt:lpstr>Napor yo`qolishi haqida umumiy tushunchalar.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Mаhаlliy qаrshiliklаr turlari.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GIDRAVLIK QARSHILIKLAR</dc:title>
  <dc:creator>number_one_2</dc:creator>
  <cp:lastModifiedBy>Hp</cp:lastModifiedBy>
  <cp:revision>8</cp:revision>
  <dcterms:created xsi:type="dcterms:W3CDTF">2018-11-06T13:59:55Z</dcterms:created>
  <dcterms:modified xsi:type="dcterms:W3CDTF">2025-10-14T18:05:02Z</dcterms:modified>
</cp:coreProperties>
</file>