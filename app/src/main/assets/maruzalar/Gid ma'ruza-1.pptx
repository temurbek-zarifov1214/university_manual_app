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8" r:id="rId4"/>
    <p:sldId id="272" r:id="rId5"/>
    <p:sldId id="276" r:id="rId6"/>
    <p:sldId id="277" r:id="rId7"/>
    <p:sldId id="278" r:id="rId8"/>
    <p:sldId id="269" r:id="rId9"/>
    <p:sldId id="259" r:id="rId10"/>
    <p:sldId id="263" r:id="rId11"/>
    <p:sldId id="262" r:id="rId12"/>
    <p:sldId id="279" r:id="rId13"/>
    <p:sldId id="265" r:id="rId14"/>
    <p:sldId id="275" r:id="rId15"/>
    <p:sldId id="270" r:id="rId16"/>
    <p:sldId id="264" r:id="rId17"/>
    <p:sldId id="258" r:id="rId18"/>
    <p:sldId id="267" r:id="rId19"/>
    <p:sldId id="280" r:id="rId20"/>
    <p:sldId id="281" r:id="rId21"/>
    <p:sldId id="273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07AF4B-4B63-45C0-931B-A4D742243E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1CB7B2-1125-4462-956B-DC0930117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858AB2-F43D-4B06-9E9D-28BD1A21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9F1138-718F-4431-AFB6-3AC6F65D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8EA826-A738-4F22-9B74-60307B44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553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5537E-E611-4AB8-BD81-326EB1BF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3AEAF3-1991-48C4-B3DC-A704CC156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B0703E-42D4-4865-8973-0AD5CA1F0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38BE35-805F-4167-B6C5-F713E857B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3663E0-3CED-4506-9288-BDFA101E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326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28D8A0-4605-4A37-9278-8E12732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52B755-532D-4EE6-813E-B133A5A5B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D6394D-9901-49C1-8B9F-578131127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97ABA1-A5E7-4F45-B361-5921E0EE6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BFAE5-16E6-45F2-A520-01716BE2F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554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C0A22-F178-49FF-A5D4-D4609CB61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F91E7E-6099-4537-9B6A-14B3E42E68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E628BD-B7A7-4DED-8A24-B12FCAC38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095508-660F-4054-8DF9-CFFB3E798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1956B5-054F-4E27-AB6C-39FB663B0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0D66D3-F312-45D0-8E50-C20E6367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314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F8980E-79D8-4BD2-A645-A562DDAE7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AAAC77-3AA1-4AC4-B87B-766C71533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889AA9-2099-4A9B-AA7D-17F9D8786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0569FB-2EF8-4D5C-825B-36C2E6397D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EB9E53F-260C-4332-A675-505D93C74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9419CE-C5DB-414B-A642-FD24545E5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65704C-92D6-4564-B60D-770EFBDD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4CB1B8F-4C97-48B4-901D-9F69B77D7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57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E05D2-FDD1-4350-925E-309C3D48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47BB196-32FF-4FBF-97B2-C6BA44EF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D178E2-42BD-4572-8DF6-E756D767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D17902-72F9-44C2-9163-9894A62A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2633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80DB0B-0477-4CE3-A874-734218DE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9FD3B1C-FA6E-42E5-9016-74584756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24DAEA-D71F-415B-B4EA-CCF05CA4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139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F6DCD-D138-4F89-91A6-8D8DDF62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C8F7BD-B0A2-4854-9D9B-9BF007CD7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A610FA2-5958-441F-83BC-B476BB590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D1076A-E069-4467-B21F-0E1BE4D6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32B221-A8B2-49C6-B48F-986E9260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C7612BB-76F6-4D69-AFB4-BF112629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9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107D4-EE2E-42F9-B1A6-88252AF60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5A945C-39A3-4F1E-98D8-31ECC66BF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4B5C37-0157-492D-A621-D7280A795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625DFD-835D-4852-BBAE-4CD9853E7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B1AF47-D2D4-4CAC-B408-8809EFC75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99A351-E572-476D-94F3-16D22C60A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7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0D4432-37B9-4D7E-91CF-570DC78A3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5858DF-6500-4FA0-9754-41DB04DBC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F394BA-017F-47DD-A5E0-31F42BA7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315E5A-1131-4ACD-9D8F-1E456056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951BBC-D129-4AD3-8CD7-2FA2C612D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47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90E713-E6FE-4982-95FF-3FE5F1994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9651B84-4FF9-48EE-912F-D9FC32813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06DA58-B4B7-49AE-9381-BFDB67BB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F7D0B4-6223-434B-B549-7AC99D16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8EBFE2-855E-44FA-B237-1F1FF0D3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781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B35799-7DFB-4BF6-8A80-33C37591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F67FA1-6812-48ED-8058-65BA6EF00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F53775-652D-45D0-B9F2-E6C7E6CB5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B6CF9-0513-4B48-9927-9236A124F704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E30B45-3747-4C82-953F-CA5C7A4BB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4D2656-7798-46D1-874C-15D08E0C63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388B-83FF-4835-A827-D556726124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13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9">
            <a:extLst>
              <a:ext uri="{FF2B5EF4-FFF2-40B4-BE49-F238E27FC236}">
                <a16:creationId xmlns:a16="http://schemas.microsoft.com/office/drawing/2014/main" id="{338FABB6-DAEB-4FC2-9D38-6795B4D99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1" t="20546" r="15321" b="27090"/>
          <a:stretch>
            <a:fillRect/>
          </a:stretch>
        </p:blipFill>
        <p:spPr bwMode="auto">
          <a:xfrm>
            <a:off x="284859" y="4956175"/>
            <a:ext cx="658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11">
            <a:extLst>
              <a:ext uri="{FF2B5EF4-FFF2-40B4-BE49-F238E27FC236}">
                <a16:creationId xmlns:a16="http://schemas.microsoft.com/office/drawing/2014/main" id="{35A651BC-7965-45C4-84AA-1FECF1C69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5" t="20673" r="8195" b="23930"/>
          <a:stretch>
            <a:fillRect/>
          </a:stretch>
        </p:blipFill>
        <p:spPr bwMode="auto">
          <a:xfrm>
            <a:off x="267397" y="5491163"/>
            <a:ext cx="67627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6">
            <a:extLst>
              <a:ext uri="{FF2B5EF4-FFF2-40B4-BE49-F238E27FC236}">
                <a16:creationId xmlns:a16="http://schemas.microsoft.com/office/drawing/2014/main" id="{81674758-C554-4ACE-8B77-10B66B619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084" y="5467350"/>
            <a:ext cx="1979613" cy="46076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>
            <a:spAutoFit/>
          </a:bodyPr>
          <a:lstStyle>
            <a:lvl1pPr defTabSz="685800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685800">
              <a:spcBef>
                <a:spcPct val="20000"/>
              </a:spcBef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7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Oziq-ovqat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muhandisligi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kafedrasi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katta</a:t>
            </a:r>
            <a:r>
              <a:rPr lang="en-US" altLang="en-US" sz="1197" dirty="0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1197" dirty="0" err="1">
                <a:solidFill>
                  <a:srgbClr val="000000"/>
                </a:solidFill>
                <a:latin typeface="Arial" panose="020B0604020202020204" pitchFamily="34" charset="0"/>
                <a:cs typeface="Calibri" panose="020F0502020204030204" pitchFamily="34" charset="0"/>
              </a:rPr>
              <a:t>o’qituvchisi</a:t>
            </a:r>
            <a:endParaRPr lang="uz-Cyrl-UZ" altLang="en-US" sz="1197" dirty="0">
              <a:solidFill>
                <a:srgbClr val="000000"/>
              </a:solidFill>
              <a:latin typeface="Arial" panose="020B06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BDBC3DCC-F1AD-4931-80B8-E56AC6FCE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672" y="5062538"/>
            <a:ext cx="1789112" cy="240066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1200" dirty="0">
                <a:solidFill>
                  <a:srgbClr val="000000"/>
                </a:solidFill>
                <a:cs typeface="Calibri" panose="020F0502020204030204" pitchFamily="34" charset="0"/>
              </a:rPr>
              <a:t>  </a:t>
            </a:r>
            <a:r>
              <a:rPr lang="en-US" altLang="ru-RU" sz="1200" dirty="0" err="1">
                <a:solidFill>
                  <a:srgbClr val="000000"/>
                </a:solidFill>
                <a:cs typeface="Calibri" panose="020F0502020204030204" pitchFamily="34" charset="0"/>
              </a:rPr>
              <a:t>A.J.To’ychiyev</a:t>
            </a:r>
            <a:r>
              <a:rPr lang="en-US" altLang="ru-RU" sz="1200" dirty="0">
                <a:solidFill>
                  <a:srgbClr val="000000"/>
                </a:solidFill>
                <a:cs typeface="Calibri" panose="020F0502020204030204" pitchFamily="34" charset="0"/>
              </a:rPr>
              <a:t>. </a:t>
            </a:r>
            <a:endParaRPr lang="ru-RU" altLang="ru-RU" sz="1200" dirty="0">
              <a:solidFill>
                <a:srgbClr val="000000"/>
              </a:solidFill>
              <a:cs typeface="Calibri" panose="020F050202020403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E8D7ABC-585F-42A3-89E7-8DEB5019ED67}"/>
              </a:ext>
            </a:extLst>
          </p:cNvPr>
          <p:cNvSpPr>
            <a:spLocks noChangeAspect="1"/>
          </p:cNvSpPr>
          <p:nvPr/>
        </p:nvSpPr>
        <p:spPr>
          <a:xfrm>
            <a:off x="941035" y="3719513"/>
            <a:ext cx="5638800" cy="1171575"/>
          </a:xfrm>
          <a:prstGeom prst="rect">
            <a:avLst/>
          </a:prstGeom>
          <a:solidFill>
            <a:srgbClr val="000099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10" name="POWERPOINT TEMPLATE">
            <a:extLst>
              <a:ext uri="{FF2B5EF4-FFF2-40B4-BE49-F238E27FC236}">
                <a16:creationId xmlns:a16="http://schemas.microsoft.com/office/drawing/2014/main" id="{F0E98C53-0278-4977-854F-721623FC8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410" y="4116387"/>
            <a:ext cx="4362450" cy="42704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 lIns="28575" tIns="28575" rIns="28575" bIns="28575" anchor="ctr">
            <a:spAutoFit/>
          </a:bodyPr>
          <a:lstStyle>
            <a:lvl1pPr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06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faniga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POWERPOINT TEMPLATE">
            <a:extLst>
              <a:ext uri="{FF2B5EF4-FFF2-40B4-BE49-F238E27FC236}">
                <a16:creationId xmlns:a16="http://schemas.microsoft.com/office/drawing/2014/main" id="{52594E2F-BF7E-4E87-B5C5-5C7616C2C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898" y="3768725"/>
            <a:ext cx="1027112" cy="99695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575" tIns="28575" rIns="28575" bIns="28575" anchor="ctr">
            <a:spAutoFit/>
          </a:bodyPr>
          <a:lstStyle>
            <a:lvl1pPr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ru-RU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MAVZU </a:t>
            </a:r>
            <a:r>
              <a:rPr lang="en-US" altLang="ru-RU" sz="4500" b="1" dirty="0">
                <a:solidFill>
                  <a:srgbClr val="FFFF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ED48C59-6B5F-446F-B83A-E10514469C07}"/>
              </a:ext>
            </a:extLst>
          </p:cNvPr>
          <p:cNvSpPr>
            <a:spLocks noChangeAspect="1"/>
          </p:cNvSpPr>
          <p:nvPr/>
        </p:nvSpPr>
        <p:spPr>
          <a:xfrm>
            <a:off x="2735263" y="2257425"/>
            <a:ext cx="6394450" cy="1171575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defTabSz="68580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10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Times New Roman"/>
              <a:cs typeface="Arial" panose="020B0604020202020204" pitchFamily="34" charset="0"/>
            </a:endParaRPr>
          </a:p>
        </p:txBody>
      </p:sp>
      <p:sp>
        <p:nvSpPr>
          <p:cNvPr id="13" name="POWERPOINT TEMPLATE">
            <a:extLst>
              <a:ext uri="{FF2B5EF4-FFF2-40B4-BE49-F238E27FC236}">
                <a16:creationId xmlns:a16="http://schemas.microsoft.com/office/drawing/2014/main" id="{F4B80B61-E360-4072-8AB0-E55FFF505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263" y="2683878"/>
            <a:ext cx="5124450" cy="390107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575" tIns="28575" rIns="28575" bIns="28575" anchor="ctr">
            <a:spAutoFit/>
          </a:bodyPr>
          <a:lstStyle>
            <a:lvl1pPr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altLang="ru-RU" sz="2400" dirty="0">
                <a:solidFill>
                  <a:srgbClr val="FFFF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 </a:t>
            </a:r>
            <a:endParaRPr lang="ru-RU" altLang="ru-RU" sz="2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POWERPOINT TEMPLATE">
            <a:extLst>
              <a:ext uri="{FF2B5EF4-FFF2-40B4-BE49-F238E27FC236}">
                <a16:creationId xmlns:a16="http://schemas.microsoft.com/office/drawing/2014/main" id="{4BACDA10-41E4-40C2-A9E5-1D069431C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2582863"/>
            <a:ext cx="1027113" cy="519112"/>
          </a:xfrm>
          <a:prstGeom prst="rect">
            <a:avLst/>
          </a:prstGeom>
          <a:solidFill>
            <a:srgbClr val="002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8575" tIns="28575" rIns="28575" bIns="28575" anchor="ctr">
            <a:spAutoFit/>
          </a:bodyPr>
          <a:lstStyle>
            <a:lvl1pPr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685800"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tabLst>
                <a:tab pos="8001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ru-RU" sz="3000" b="1" dirty="0">
                <a:solidFill>
                  <a:srgbClr val="FFFF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FAN</a:t>
            </a:r>
            <a:r>
              <a:rPr lang="ru-RU" altLang="ru-RU" sz="3000" b="1" dirty="0">
                <a:solidFill>
                  <a:srgbClr val="FFFFFF"/>
                </a:solidFill>
                <a:cs typeface="Arial" panose="020B0604020202020204" pitchFamily="34" charset="0"/>
                <a:sym typeface="Arial" panose="020B0604020202020204" pitchFamily="34" charset="0"/>
              </a:rPr>
              <a:t>:</a:t>
            </a:r>
            <a:endParaRPr lang="en-US" altLang="ru-RU" sz="6000" b="1" dirty="0">
              <a:solidFill>
                <a:srgbClr val="FFFFFF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D2277956-8E78-4FA9-851A-9AA553254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267503"/>
              </p:ext>
            </p:extLst>
          </p:nvPr>
        </p:nvGraphicFramePr>
        <p:xfrm>
          <a:off x="3631076" y="730250"/>
          <a:ext cx="5356225" cy="973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5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73138">
                <a:tc>
                  <a:txBody>
                    <a:bodyPr/>
                    <a:lstStyle/>
                    <a:p>
                      <a:pPr marL="6350" indent="-6350" algn="ctr">
                        <a:lnSpc>
                          <a:spcPct val="100000"/>
                        </a:lnSpc>
                        <a:spcAft>
                          <a:spcPts val="600"/>
                        </a:spcAft>
                      </a:pPr>
                      <a:r>
                        <a:rPr lang="ru-RU" sz="2400" dirty="0">
                          <a:effectLst/>
                        </a:rPr>
                        <a:t>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QARSHI DAVLAT TEXNIKA UNIVERSITETI</a:t>
                      </a:r>
                      <a:endParaRPr lang="ru-RU" sz="28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635" marR="58635" marT="0" marB="0">
                    <a:solidFill>
                      <a:srgbClr val="CAF9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" name="Picture 1079">
            <a:extLst>
              <a:ext uri="{FF2B5EF4-FFF2-40B4-BE49-F238E27FC236}">
                <a16:creationId xmlns:a16="http://schemas.microsoft.com/office/drawing/2014/main" id="{8C1CF718-E5B2-4950-92DD-53D6F714C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987301" y="720725"/>
            <a:ext cx="1357312" cy="992188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C9FA36B-1648-40C1-979C-A11771701F42}"/>
              </a:ext>
            </a:extLst>
          </p:cNvPr>
          <p:cNvPicPr/>
          <p:nvPr/>
        </p:nvPicPr>
        <p:blipFill rotWithShape="1">
          <a:blip r:embed="rId5"/>
          <a:srcRect l="12700" t="19841" r="78450" b="66248"/>
          <a:stretch/>
        </p:blipFill>
        <p:spPr bwMode="auto">
          <a:xfrm>
            <a:off x="2546351" y="730250"/>
            <a:ext cx="1013596" cy="9731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64BE8FA-891E-4388-A98D-8BFD67444991}"/>
              </a:ext>
            </a:extLst>
          </p:cNvPr>
          <p:cNvPicPr/>
          <p:nvPr/>
        </p:nvPicPr>
        <p:blipFill rotWithShape="1">
          <a:blip r:embed="rId6"/>
          <a:srcRect l="39827" t="35804" r="39486" b="26340"/>
          <a:stretch/>
        </p:blipFill>
        <p:spPr bwMode="auto">
          <a:xfrm>
            <a:off x="6920847" y="3429000"/>
            <a:ext cx="4202873" cy="27082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5006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C9256EB-700D-4A0D-9FCA-A04D62844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747281"/>
              </p:ext>
            </p:extLst>
          </p:nvPr>
        </p:nvGraphicFramePr>
        <p:xfrm>
          <a:off x="1143000" y="234946"/>
          <a:ext cx="9377363" cy="6146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9091">
                  <a:extLst>
                    <a:ext uri="{9D8B030D-6E8A-4147-A177-3AD203B41FA5}">
                      <a16:colId xmlns:a16="http://schemas.microsoft.com/office/drawing/2014/main" val="1556420942"/>
                    </a:ext>
                  </a:extLst>
                </a:gridCol>
                <a:gridCol w="5955483">
                  <a:extLst>
                    <a:ext uri="{9D8B030D-6E8A-4147-A177-3AD203B41FA5}">
                      <a16:colId xmlns:a16="http://schemas.microsoft.com/office/drawing/2014/main" val="3768752562"/>
                    </a:ext>
                  </a:extLst>
                </a:gridCol>
                <a:gridCol w="2089466">
                  <a:extLst>
                    <a:ext uri="{9D8B030D-6E8A-4147-A177-3AD203B41FA5}">
                      <a16:colId xmlns:a16="http://schemas.microsoft.com/office/drawing/2014/main" val="928672384"/>
                    </a:ext>
                  </a:extLst>
                </a:gridCol>
                <a:gridCol w="893323">
                  <a:extLst>
                    <a:ext uri="{9D8B030D-6E8A-4147-A177-3AD203B41FA5}">
                      <a16:colId xmlns:a16="http://schemas.microsoft.com/office/drawing/2014/main" val="2094012712"/>
                    </a:ext>
                  </a:extLst>
                </a:gridCol>
              </a:tblGrid>
              <a:tr h="12016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9" marR="7749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 / FAN SILLABUSI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Shahrisabz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oziq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ovqat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muhandisligi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fakulteti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60720700 – T</a:t>
                      </a: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exnologi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mashinalar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jixozlar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yo‘nalishi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49" marR="7749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4577462"/>
                  </a:ext>
                </a:extLst>
              </a:tr>
              <a:tr h="567415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Фan nomi: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Gidravlika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3607892029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 turi: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Majburiy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15410273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Fan kodi: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GID1504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4092201378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Yil: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2465941250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Semestr: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3506451336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Ta’lim shakli: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kunduzgi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2833209395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Mashg‘ulotlar shakli va semestrga ajratilgan soatlar: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1418814793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 marL="37401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Mа’ruzа</a:t>
                      </a:r>
                      <a:endParaRPr lang="ru-RU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ru-RU" sz="20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216309227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 marL="37401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Аmаliy mаshg‘ulotlаr</a:t>
                      </a:r>
                      <a:endParaRPr lang="ru-RU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ru-RU" sz="20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96242879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 marL="37401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Lаborаtoriya mаshg‘ulotlаri</a:t>
                      </a:r>
                      <a:endParaRPr lang="ru-RU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ru-RU" sz="200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1515428323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 marL="37401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Mustаqil tа’lim</a:t>
                      </a:r>
                      <a:endParaRPr lang="ru-RU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ru-RU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1105824134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Kredit miqdori: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4285768890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Bаholаsh shаkli: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imtihon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2764769503"/>
                  </a:ext>
                </a:extLst>
              </a:tr>
              <a:tr h="291664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Fаn tili: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o‘zbek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890" marR="29890" marT="0" marB="0" anchor="ctr"/>
                </a:tc>
                <a:extLst>
                  <a:ext uri="{0D108BD9-81ED-4DB2-BD59-A6C34878D82A}">
                    <a16:rowId xmlns:a16="http://schemas.microsoft.com/office/drawing/2014/main" val="1591975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72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вал 2">
            <a:extLst>
              <a:ext uri="{FF2B5EF4-FFF2-40B4-BE49-F238E27FC236}">
                <a16:creationId xmlns:a16="http://schemas.microsoft.com/office/drawing/2014/main" id="{C5F30F0B-EA05-47BA-9AF6-90C79C11D2F9}"/>
              </a:ext>
            </a:extLst>
          </p:cNvPr>
          <p:cNvSpPr/>
          <p:nvPr/>
        </p:nvSpPr>
        <p:spPr>
          <a:xfrm>
            <a:off x="1562100" y="552451"/>
            <a:ext cx="9534525" cy="5743574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Mavzu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1.Gidravlika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 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taraqqiyotining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4.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1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лако 2">
            <a:extLst>
              <a:ext uri="{FF2B5EF4-FFF2-40B4-BE49-F238E27FC236}">
                <a16:creationId xmlns:a16="http://schemas.microsoft.com/office/drawing/2014/main" id="{1E747CB0-5B2E-4A5B-8155-77D6FDF4462E}"/>
              </a:ext>
            </a:extLst>
          </p:cNvPr>
          <p:cNvSpPr/>
          <p:nvPr/>
        </p:nvSpPr>
        <p:spPr>
          <a:xfrm>
            <a:off x="164592" y="237744"/>
            <a:ext cx="12027408" cy="6364223"/>
          </a:xfrm>
          <a:prstGeom prst="cloud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EDD1F25-865E-4BB0-A6B8-D8C46E8BB680}"/>
              </a:ext>
            </a:extLst>
          </p:cNvPr>
          <p:cNvSpPr/>
          <p:nvPr/>
        </p:nvSpPr>
        <p:spPr>
          <a:xfrm>
            <a:off x="1633728" y="1074509"/>
            <a:ext cx="935736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1.Gidravlika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fanining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yaratilish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qadimgi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Arximed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eramizdan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avvalgi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387 — 212-y.)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Suzuvchi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risolasi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traktati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eramizdan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avval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250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muqaddam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vozilgan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Arximedning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botirilgan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muvozanati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kemalarning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suzishi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turg‘unligi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keyinchalik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XIV—XVII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asrlarda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taraqqiy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Italiyalik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buyuk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Leonardo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Vinchi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(1452—1519)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daryo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kanallardagi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qonuniyatlarini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gidrotexnikaviy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inshootlarni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shug‘ullangan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markazdan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qochma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ixtiro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ko‘pgina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hodisalarni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isbotlagan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Yarim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gollandiyalik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Stevin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(1548—1620)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suyuqlik-ning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tekislikka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bosimini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g‘ayritabiiylik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paradoks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hodisasini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ta’riflab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3032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противолежащие углы 1">
            <a:extLst>
              <a:ext uri="{FF2B5EF4-FFF2-40B4-BE49-F238E27FC236}">
                <a16:creationId xmlns:a16="http://schemas.microsoft.com/office/drawing/2014/main" id="{F79BDD27-CB58-4823-AFE9-B8A5F097631E}"/>
              </a:ext>
            </a:extLst>
          </p:cNvPr>
          <p:cNvSpPr/>
          <p:nvPr/>
        </p:nvSpPr>
        <p:spPr>
          <a:xfrm>
            <a:off x="475488" y="237744"/>
            <a:ext cx="10661904" cy="6199632"/>
          </a:xfrm>
          <a:prstGeom prst="round2Diag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ltaliyalik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Galiley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(1564—1642)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gidrostatikaning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qoidalarini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sistemalashtirdi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tushunchasini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zichligiga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bog‘liqligini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isbotladi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Torrichelli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(1608—1647)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teshikdan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hisoblaydigan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Fransuz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Paskal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bosimning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Buvuk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ingliz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astronomi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Nyuton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(1643—1727)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qovushqoqligi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tushun-chasini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xossasi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kuchlanish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bog‘lanishni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isbotladi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o‘xshashliklar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nazariyasiga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XVIII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qadar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deyarli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ko‘proq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bir-birlari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bog‘lanmagan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tarqoq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XVIII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yarmidagi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yirik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olim-lardan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Bernulli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(1700—1782)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Eyler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(1707—1783)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08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загнутый угол 1">
            <a:extLst>
              <a:ext uri="{FF2B5EF4-FFF2-40B4-BE49-F238E27FC236}">
                <a16:creationId xmlns:a16="http://schemas.microsoft.com/office/drawing/2014/main" id="{3A91BD5E-5DAD-4259-B92C-478616E8DA3D}"/>
              </a:ext>
            </a:extLst>
          </p:cNvPr>
          <p:cNvSpPr/>
          <p:nvPr/>
        </p:nvSpPr>
        <p:spPr>
          <a:xfrm>
            <a:off x="640080" y="356616"/>
            <a:ext cx="11247120" cy="6144768"/>
          </a:xfrm>
          <a:prstGeom prst="foldedCorne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XVIII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yarmidagi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yirik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olim-lardan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Bernulli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(1700—1782)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Eyler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(1707—1783)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gidromexanika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Bernulli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qonuniyatlarini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o‘rganib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tenglamalarini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isbotlab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Bernullining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nashrdan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chiqqan-dan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so‘ng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(1738-y.)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atama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kiritildi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Shveysariyalik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buyuk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astronom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Eylerning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tamoyillari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o‘rinda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turadi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M.V.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Lomonosov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(1711—1765)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gazlar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haraka-tining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tatbiqiga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e’tibor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massa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energiyaning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saqlanish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qonunini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XVIII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ikkinchi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yarmi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XIX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asrning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boshida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sanoat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chiqarishning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shiddatli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rivojlanishi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davrida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xossalarini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oluvchi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yangicha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talablar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Natijada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aylanish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boshlanadi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343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Блок-схема: документ 1">
            <a:extLst>
              <a:ext uri="{FF2B5EF4-FFF2-40B4-BE49-F238E27FC236}">
                <a16:creationId xmlns:a16="http://schemas.microsoft.com/office/drawing/2014/main" id="{1F05B837-7372-4F90-ACFF-85FFA19A6663}"/>
              </a:ext>
            </a:extLst>
          </p:cNvPr>
          <p:cNvSpPr/>
          <p:nvPr/>
        </p:nvSpPr>
        <p:spPr>
          <a:xfrm>
            <a:off x="950976" y="292608"/>
            <a:ext cx="10917936" cy="6364224"/>
          </a:xfrm>
          <a:prstGeom prst="flowChartDocumen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9F2F217-08D7-46E1-869F-16B7B3F53764}"/>
              </a:ext>
            </a:extLst>
          </p:cNvPr>
          <p:cNvSpPr/>
          <p:nvPr/>
        </p:nvSpPr>
        <p:spPr>
          <a:xfrm>
            <a:off x="1490472" y="658368"/>
            <a:ext cx="910742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gidrodinamikaning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shakllanishida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fransiyalik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(1695—1799)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Pito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nayi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Shezi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(1718—1798)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harakatlanayotgan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tezligini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aniqlaydigan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(1733—1799)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kengay-ganida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damining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pasayishini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hisoblaydigan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hissalarini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qo‘shgan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Italiyalik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Venturi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(1746—1822)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nasadka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nemis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Veysbax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(1806—1871)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yarat-gan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Ingliz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Reynolds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harakatining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laminar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turbulent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oqimlarini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kashf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o‘xshashliklar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kriteriysini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varatdi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Prandtl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(1875—1953)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turbulent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takomillashtirdi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P.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Melnikov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(1804—1880)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marta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1836-yilda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tilidagi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darsligini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nashr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ettirdi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Ros-siyada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N.P.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Petrov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(1836—1920)	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Nyutonning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gipo-tezasi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ishqalanish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moylash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nazarivasini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N.Y.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Jukov-skiyning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(1847—1921)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gidrodinamikaga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ishlaridan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haqida»gi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1899-yili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nashrdan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351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Блок-схема: ссылка на другую страницу 2">
            <a:extLst>
              <a:ext uri="{FF2B5EF4-FFF2-40B4-BE49-F238E27FC236}">
                <a16:creationId xmlns:a16="http://schemas.microsoft.com/office/drawing/2014/main" id="{6C77B0EA-659E-4F0C-BD75-3EB1CDA1AF87}"/>
              </a:ext>
            </a:extLst>
          </p:cNvPr>
          <p:cNvSpPr/>
          <p:nvPr/>
        </p:nvSpPr>
        <p:spPr>
          <a:xfrm>
            <a:off x="1757779" y="2104007"/>
            <a:ext cx="8930936" cy="4323426"/>
          </a:xfrm>
          <a:prstGeom prst="flowChartOffpage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R="272415" indent="252095" algn="just">
              <a:lnSpc>
                <a:spcPct val="97000"/>
              </a:lnSpc>
              <a:spcAft>
                <a:spcPts val="0"/>
              </a:spcAft>
            </a:pPr>
            <a:r>
              <a:rPr lang="en-US" spc="7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«</a:t>
            </a:r>
            <a:r>
              <a:rPr lang="en-US" spc="7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Gid</a:t>
            </a:r>
            <a:r>
              <a:rPr lang="en-US" spc="8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7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av</a:t>
            </a:r>
            <a:r>
              <a:rPr lang="en-US" spc="8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lik</a:t>
            </a:r>
            <a:r>
              <a:rPr lang="en-US" spc="9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en-US" spc="6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ru-RU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—</a:t>
            </a:r>
            <a:r>
              <a:rPr lang="ru-RU" spc="6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ha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at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lan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ot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ga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6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6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mu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voz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na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dag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su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uq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li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pc="58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nla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8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’r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ga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nad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ig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spc="57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onun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lar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nin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pc="58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muayya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 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exn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vi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pc="5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ar</a:t>
            </a:r>
            <a:r>
              <a:rPr lang="en-US" spc="5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opi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hd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5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pc="5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qo’ll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nila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iga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f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ndi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r.</a:t>
            </a:r>
            <a:r>
              <a:rPr lang="en-US" spc="29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«G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dra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ka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en-US" spc="29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9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tu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rl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9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xi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30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vl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ik</a:t>
            </a:r>
            <a:r>
              <a:rPr lang="en-US" spc="29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shi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al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rn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0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(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aso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r,</a:t>
            </a:r>
            <a:r>
              <a:rPr lang="en-US" spc="3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tur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na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spc="3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vl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ik</a:t>
            </a:r>
            <a:r>
              <a:rPr lang="en-US" spc="3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uz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tma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en-US" spc="3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at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sh</a:t>
            </a:r>
            <a:r>
              <a:rPr lang="en-US" spc="3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va</a:t>
            </a:r>
            <a:r>
              <a:rPr lang="en-US" spc="3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rn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atbi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q</a:t>
            </a:r>
            <a:r>
              <a:rPr lang="en-US" spc="3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et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sh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so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anlar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bil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5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uz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spc="5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bog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’l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ang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r>
              <a:rPr lang="en-US" spc="5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6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Gi</a:t>
            </a:r>
            <a:r>
              <a:rPr lang="en-US" spc="7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dravli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pc="5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la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zar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yas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</a:t>
            </a:r>
            <a:r>
              <a:rPr lang="en-US" spc="57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z</a:t>
            </a:r>
            <a:r>
              <a:rPr lang="en-US" spc="6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ilis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7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57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hl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57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ar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ti</a:t>
            </a:r>
            <a:r>
              <a:rPr lang="en-US" spc="5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bi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n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7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yoriti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57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’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4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5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la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rd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9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«Gi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dr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av</a:t>
            </a:r>
            <a:r>
              <a:rPr lang="en-US" spc="3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lik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»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pc="3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9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um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las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ht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ri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gan</a:t>
            </a:r>
            <a:r>
              <a:rPr lang="en-US" spc="19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</a:t>
            </a:r>
            <a:r>
              <a:rPr lang="en-US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</a:t>
            </a:r>
            <a:r>
              <a:rPr lang="en-US" spc="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1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pc="19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ila</a:t>
            </a:r>
            <a:r>
              <a:rPr lang="en-US" spc="1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</a:t>
            </a:r>
            <a:r>
              <a:rPr lang="en-US" spc="2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</a:t>
            </a:r>
            <a:r>
              <a:rPr lang="en-US" spc="25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Стрелка: влево-вправо 3">
            <a:extLst>
              <a:ext uri="{FF2B5EF4-FFF2-40B4-BE49-F238E27FC236}">
                <a16:creationId xmlns:a16="http://schemas.microsoft.com/office/drawing/2014/main" id="{CB204885-088C-4FF3-9842-6CE3954EA518}"/>
              </a:ext>
            </a:extLst>
          </p:cNvPr>
          <p:cNvSpPr/>
          <p:nvPr/>
        </p:nvSpPr>
        <p:spPr>
          <a:xfrm>
            <a:off x="1757779" y="701336"/>
            <a:ext cx="8930936" cy="958788"/>
          </a:xfrm>
          <a:prstGeom prst="left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105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4FC0B255-2FE7-4F5F-9EA1-003AF1BA95AC}"/>
              </a:ext>
            </a:extLst>
          </p:cNvPr>
          <p:cNvSpPr/>
          <p:nvPr/>
        </p:nvSpPr>
        <p:spPr>
          <a:xfrm>
            <a:off x="710214" y="275208"/>
            <a:ext cx="10537794" cy="616998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(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yunon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hidro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aulos  nay)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quvur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naydagi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harakatini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o’rganib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qolmasdan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turli-tuman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geometrik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shakldagi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yopiq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oqimlarni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ham </a:t>
            </a: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o’rganadi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harakatlanayotgan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muvozanatdagi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o’rganadigan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muayyan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qo’llaniladigan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fandir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«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-lar,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turbinalar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tatbiq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fanlari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uzviy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bog’langan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nazariyasi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tuzilishi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tartibini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yoritish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ko’pchilik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hollarda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Gidravlika»da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umumlashtirilgan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keltiriladi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75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7DB139-F238-41B2-99C3-21E893013FB1}"/>
              </a:ext>
            </a:extLst>
          </p:cNvPr>
          <p:cNvPicPr/>
          <p:nvPr/>
        </p:nvPicPr>
        <p:blipFill rotWithShape="1">
          <a:blip r:embed="rId2"/>
          <a:srcRect l="29503" t="22577" r="30348" b="36146"/>
          <a:stretch/>
        </p:blipFill>
        <p:spPr bwMode="auto">
          <a:xfrm>
            <a:off x="1074199" y="710214"/>
            <a:ext cx="9978500" cy="5459767"/>
          </a:xfrm>
          <a:prstGeom prst="rect">
            <a:avLst/>
          </a:prstGeom>
          <a:ln/>
          <a:extLst>
            <a:ext uri="{53640926-AAD7-44D8-BBD7-CCE9431645EC}">
              <a14:shadowObscured xmlns:a14="http://schemas.microsoft.com/office/drawing/2010/main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80583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апля 2">
            <a:extLst>
              <a:ext uri="{FF2B5EF4-FFF2-40B4-BE49-F238E27FC236}">
                <a16:creationId xmlns:a16="http://schemas.microsoft.com/office/drawing/2014/main" id="{54DEEE33-9204-4763-9CAA-C7ED90AC8B8A}"/>
              </a:ext>
            </a:extLst>
          </p:cNvPr>
          <p:cNvSpPr/>
          <p:nvPr/>
        </p:nvSpPr>
        <p:spPr>
          <a:xfrm>
            <a:off x="621437" y="798991"/>
            <a:ext cx="10440139" cy="5326602"/>
          </a:xfrm>
          <a:prstGeom prst="teardrop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boshlang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’ich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taraqqiyot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davrida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oqimining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harakat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mexanikasini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xossalarini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ideallashtirib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farazlarni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formulalarni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’li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soddalashtirilgan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rgangan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Gidrodinamikaning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uslublari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topishga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bermagandan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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mexanikasi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rivojlangan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mexanikasi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tajribalarda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natijalar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qoniqtirishi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hodisalarni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soddalashtirib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tenglamalarga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tuzatma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koeffitsiyentlarni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kiritib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00016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ыноска: стрелка вверх 2">
            <a:extLst>
              <a:ext uri="{FF2B5EF4-FFF2-40B4-BE49-F238E27FC236}">
                <a16:creationId xmlns:a16="http://schemas.microsoft.com/office/drawing/2014/main" id="{BCBE99DB-AEFE-42CF-B56F-9B56E78CDC68}"/>
              </a:ext>
            </a:extLst>
          </p:cNvPr>
          <p:cNvSpPr/>
          <p:nvPr/>
        </p:nvSpPr>
        <p:spPr>
          <a:xfrm>
            <a:off x="731520" y="1828800"/>
            <a:ext cx="10881360" cy="4626864"/>
          </a:xfrm>
          <a:prstGeom prst="upArrowCallout">
            <a:avLst>
              <a:gd name="adj1" fmla="val 6426"/>
              <a:gd name="adj2" fmla="val 75301"/>
              <a:gd name="adj3" fmla="val 25000"/>
              <a:gd name="adj4" fmla="val 75000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just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boshida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sohasida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ixtisoslashgan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yo‘nalishlarda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ishlari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jamoa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boriladigan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uslublar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shakllana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boshladi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Iste’dodli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muhandis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olim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V.G.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Shuxov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(1853—1939)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neft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quvurini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usulini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neftni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yuqoriga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ko‘taruvchi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erliftni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ixtiro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N.N.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Pavlovskiy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(1884—1937)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inshootlar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nazariyasini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hisobini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yetakchi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boshidan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boshlab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O‘zbekistonda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gidravlikaning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gidrotexnika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qismi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tadqiqotlar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rivoji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davrga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kiradi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Gidroinshootlar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Chirchiq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Bo‘zsuv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Samarqand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GES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kaskadi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Farhod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gidroelektrostansiyalari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qurilishini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tadqiq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gidroelektrostansiyalarni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loyihalash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qurish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ishlarida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daryolar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o‘zani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dinamikasi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faniga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qator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ishlarni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zarur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bo‘ldi</a:t>
            </a: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Стрелка: влево-вправо 3">
            <a:extLst>
              <a:ext uri="{FF2B5EF4-FFF2-40B4-BE49-F238E27FC236}">
                <a16:creationId xmlns:a16="http://schemas.microsoft.com/office/drawing/2014/main" id="{38FFB2FA-9FDD-47FA-B7FD-FCDEC1E3D61A}"/>
              </a:ext>
            </a:extLst>
          </p:cNvPr>
          <p:cNvSpPr/>
          <p:nvPr/>
        </p:nvSpPr>
        <p:spPr>
          <a:xfrm>
            <a:off x="1054608" y="786384"/>
            <a:ext cx="9930384" cy="1261872"/>
          </a:xfrm>
          <a:prstGeom prst="leftRightArrow">
            <a:avLst>
              <a:gd name="adj1" fmla="val 50000"/>
              <a:gd name="adj2" fmla="val 2391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taraqqiyotining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514991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B8D867-37E1-4916-BCB3-FAA6F82591CA}"/>
              </a:ext>
            </a:extLst>
          </p:cNvPr>
          <p:cNvPicPr/>
          <p:nvPr/>
        </p:nvPicPr>
        <p:blipFill rotWithShape="1">
          <a:blip r:embed="rId2"/>
          <a:srcRect l="22961" t="49259" r="47665" b="19271"/>
          <a:stretch/>
        </p:blipFill>
        <p:spPr bwMode="auto">
          <a:xfrm>
            <a:off x="1429305" y="1189608"/>
            <a:ext cx="8549196" cy="46163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042643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Блок-схема: альтернативный процесс 1">
            <a:extLst>
              <a:ext uri="{FF2B5EF4-FFF2-40B4-BE49-F238E27FC236}">
                <a16:creationId xmlns:a16="http://schemas.microsoft.com/office/drawing/2014/main" id="{D429411E-068B-4166-AE32-F26CD02468B2}"/>
              </a:ext>
            </a:extLst>
          </p:cNvPr>
          <p:cNvSpPr/>
          <p:nvPr/>
        </p:nvSpPr>
        <p:spPr>
          <a:xfrm>
            <a:off x="1038686" y="969264"/>
            <a:ext cx="10431263" cy="5245104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Hozirgi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ayrim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birdaniga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gidromexanika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usullari-dan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yagona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nalishdagi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uslublari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orasidagi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asta-sekin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yo‘qolib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boryapti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«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mustaqil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texnikaviy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bo‘lganligidan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turli-tuman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qo‘llaniladi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qazib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ta’minoti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mashi-nasozlik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robotlashtirilgan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sug‘orish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melioratsiyalashda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ko‘pgina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masalalarining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yechimi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topilgan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ko‘proq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tatbiqini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mashinasozlikda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mubolag‘a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kesuvchi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stanok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konstruksiyasini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aviatsiya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kosmonavtikani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temirchilik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asbob-uskunalarini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plastmassadan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shtamplash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detallar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robototexnika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uskunalarsiz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tasavvur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Avtomobillarda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traktorlar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qishloq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xo‘jaligi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yo‘l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qurilishi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aviatsiya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kosmonavtika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sohalarda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moddani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yoqilg‘ini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sovitgich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surkov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qonunlaridan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foydalaniladi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egri-bugri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kuchini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muayyan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gidrojihozdan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foydalaniladi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jihozlar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qishloq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xo‘jaligi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chorvachilik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parrandachilik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yengil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og‘ir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sanoat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chiqarishida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biologik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kundalik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turmushimizda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tatbiqini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3" name="Стрелка: влево-вправо 2">
            <a:extLst>
              <a:ext uri="{FF2B5EF4-FFF2-40B4-BE49-F238E27FC236}">
                <a16:creationId xmlns:a16="http://schemas.microsoft.com/office/drawing/2014/main" id="{8B4AF429-A5E3-40F6-B90F-B9DEE39917E4}"/>
              </a:ext>
            </a:extLst>
          </p:cNvPr>
          <p:cNvSpPr/>
          <p:nvPr/>
        </p:nvSpPr>
        <p:spPr>
          <a:xfrm>
            <a:off x="2176272" y="310896"/>
            <a:ext cx="8503920" cy="512064"/>
          </a:xfrm>
          <a:prstGeom prst="left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3.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taraqqiyotining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tarixi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7858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8F3E5A-16BF-405D-91EE-2E050B449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485" y="790575"/>
            <a:ext cx="9277165" cy="56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846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лачко с текстом: овальное 3">
            <a:extLst>
              <a:ext uri="{FF2B5EF4-FFF2-40B4-BE49-F238E27FC236}">
                <a16:creationId xmlns:a16="http://schemas.microsoft.com/office/drawing/2014/main" id="{177D3D9B-A878-44FE-AC0A-240D753CAAA6}"/>
              </a:ext>
            </a:extLst>
          </p:cNvPr>
          <p:cNvSpPr/>
          <p:nvPr/>
        </p:nvSpPr>
        <p:spPr>
          <a:xfrm>
            <a:off x="692458" y="470518"/>
            <a:ext cx="10164932" cy="6045692"/>
          </a:xfrm>
          <a:prstGeom prst="wedgeEllipseCallout">
            <a:avLst>
              <a:gd name="adj1" fmla="val -51447"/>
              <a:gd name="adj2" fmla="val 6009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avtomobillar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qishloq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xo'jaligi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yo'l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texnikasini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energiya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uzatuvchi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bo'g'in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ishlatadigan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mexanizmlarsiz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tasavvur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bo'lmaydi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dvigatellar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drayverlar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turdagi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dizayndagi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quvvat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ko'tarish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amortizator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zarbalarni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yutuvchi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dvigatellarining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elektr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ta'minoti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sovutish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mehnatini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engillashtirish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narxini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pasaytirish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xavfsizligini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kamaytirish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to'liq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ro'yxatidan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uzoqdir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yaratishda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yordam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ba'zida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funksionalligi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hayratlanarli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harakat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muvozanati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qonunlarni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amaliyoti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qo'llash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usullari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1754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70DE012-9ACA-4C80-91D1-80A3B853F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464" y="969264"/>
            <a:ext cx="8833104" cy="491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81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Блок-схема: знак завершения 2">
            <a:extLst>
              <a:ext uri="{FF2B5EF4-FFF2-40B4-BE49-F238E27FC236}">
                <a16:creationId xmlns:a16="http://schemas.microsoft.com/office/drawing/2014/main" id="{AC6FA5AF-23D6-4AE4-8A82-0437940DA48D}"/>
              </a:ext>
            </a:extLst>
          </p:cNvPr>
          <p:cNvSpPr/>
          <p:nvPr/>
        </p:nvSpPr>
        <p:spPr>
          <a:xfrm>
            <a:off x="3133817" y="923278"/>
            <a:ext cx="6072327" cy="754602"/>
          </a:xfrm>
          <a:prstGeom prst="flowChartTerminator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muhandislik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muammolarini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Блок-схема: знак завершения 3">
            <a:extLst>
              <a:ext uri="{FF2B5EF4-FFF2-40B4-BE49-F238E27FC236}">
                <a16:creationId xmlns:a16="http://schemas.microsoft.com/office/drawing/2014/main" id="{659D2AED-0FDF-4CE4-87E7-153A5B13CB9B}"/>
              </a:ext>
            </a:extLst>
          </p:cNvPr>
          <p:cNvSpPr/>
          <p:nvPr/>
        </p:nvSpPr>
        <p:spPr>
          <a:xfrm>
            <a:off x="2831977" y="2077375"/>
            <a:ext cx="6649373" cy="923277"/>
          </a:xfrm>
          <a:prstGeom prst="flowChartTerminator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gazsimon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moddalarni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quvurlar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kommunal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5" name="Блок-схема: знак завершения 4">
            <a:extLst>
              <a:ext uri="{FF2B5EF4-FFF2-40B4-BE49-F238E27FC236}">
                <a16:creationId xmlns:a16="http://schemas.microsoft.com/office/drawing/2014/main" id="{3AA3B1AF-016B-4552-9095-B52C6CFF2888}"/>
              </a:ext>
            </a:extLst>
          </p:cNvPr>
          <p:cNvSpPr/>
          <p:nvPr/>
        </p:nvSpPr>
        <p:spPr>
          <a:xfrm>
            <a:off x="2831977" y="3508292"/>
            <a:ext cx="6649374" cy="923276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gidrotexnik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inshootlarni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inshootlari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6" name="Блок-схема: знак завершения 5">
            <a:extLst>
              <a:ext uri="{FF2B5EF4-FFF2-40B4-BE49-F238E27FC236}">
                <a16:creationId xmlns:a16="http://schemas.microsoft.com/office/drawing/2014/main" id="{C77C2E75-0C65-4697-88E2-C1E560436FE0}"/>
              </a:ext>
            </a:extLst>
          </p:cNvPr>
          <p:cNvSpPr/>
          <p:nvPr/>
        </p:nvSpPr>
        <p:spPr>
          <a:xfrm>
            <a:off x="2831977" y="4986810"/>
            <a:ext cx="6649374" cy="1057662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mashinalar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mexanizmlarni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loyihalash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nasoslar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kompressorlar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gidravlik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haydovchilar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9E5DEF51-B108-440E-8FF6-C2F0A25A2DD5}"/>
              </a:ext>
            </a:extLst>
          </p:cNvPr>
          <p:cNvSpPr/>
          <p:nvPr/>
        </p:nvSpPr>
        <p:spPr>
          <a:xfrm>
            <a:off x="5814874" y="1677881"/>
            <a:ext cx="798990" cy="31959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71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AC7011DF-9100-4515-918D-6DA64CDFB8DE}"/>
              </a:ext>
            </a:extLst>
          </p:cNvPr>
          <p:cNvSpPr/>
          <p:nvPr/>
        </p:nvSpPr>
        <p:spPr>
          <a:xfrm>
            <a:off x="749808" y="1609344"/>
            <a:ext cx="10405872" cy="47731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paydo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simob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insoniyat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hayoti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mehnat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faoliyatida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robotlashtirilgan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sanoatni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suyuq-liklarsiz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tasavvur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boshqarib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bo‘lmaydi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Muayyan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bo‘lmagan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istalgan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hajmni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to‘ldira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haroratda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agregat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o‘zgartiradigan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siqiladigan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siqilmaydigan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moleku-lalari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tig‘iz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joylashgan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oquvchanlik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qovushqoqlik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kapillarlik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xossasiga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moddaga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deyiladi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hosil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bo‘lishiga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bo‘linadi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simob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mansub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bo‘lsa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sun’iylariga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neft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olinadigan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benzin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solyar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gazolin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kislorod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vodorod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azot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geliy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kislotalar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kabilardan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tashqari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odamlar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iste’mol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o‘simlik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hayvonlar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o‘simlik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mevalar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sharbati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spirt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suvdagi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eritmasi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tayyorlanadigan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alkagol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moddalar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Bo‘yoqlar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surkov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moylari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suspenziyalar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anomal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suyuqliklar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yuritiladi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Стрелка: влево-вправо 3">
            <a:extLst>
              <a:ext uri="{FF2B5EF4-FFF2-40B4-BE49-F238E27FC236}">
                <a16:creationId xmlns:a16="http://schemas.microsoft.com/office/drawing/2014/main" id="{D9F4D626-0F64-4B0D-8099-94BCD0D74FBA}"/>
              </a:ext>
            </a:extLst>
          </p:cNvPr>
          <p:cNvSpPr/>
          <p:nvPr/>
        </p:nvSpPr>
        <p:spPr>
          <a:xfrm>
            <a:off x="749808" y="475488"/>
            <a:ext cx="10149840" cy="859536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596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ыноска: линия 1">
            <a:extLst>
              <a:ext uri="{FF2B5EF4-FFF2-40B4-BE49-F238E27FC236}">
                <a16:creationId xmlns:a16="http://schemas.microsoft.com/office/drawing/2014/main" id="{5B80062B-4538-4629-87E2-5ADDAE24ADA5}"/>
              </a:ext>
            </a:extLst>
          </p:cNvPr>
          <p:cNvSpPr/>
          <p:nvPr/>
        </p:nvSpPr>
        <p:spPr>
          <a:xfrm>
            <a:off x="1170432" y="859536"/>
            <a:ext cx="10168128" cy="5541264"/>
          </a:xfrm>
          <a:prstGeom prst="borderCallout1">
            <a:avLst>
              <a:gd name="adj1" fmla="val 28935"/>
              <a:gd name="adj2" fmla="val -126"/>
              <a:gd name="adj3" fmla="val 101213"/>
              <a:gd name="adj4" fmla="val -7554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788640A-9BB1-42D2-B8C0-9215583D91AC}"/>
              </a:ext>
            </a:extLst>
          </p:cNvPr>
          <p:cNvSpPr/>
          <p:nvPr/>
        </p:nvSpPr>
        <p:spPr>
          <a:xfrm>
            <a:off x="1517904" y="1285657"/>
            <a:ext cx="9125712" cy="4920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72415" indent="252095" algn="just">
              <a:lnSpc>
                <a:spcPct val="97000"/>
              </a:lnSpc>
              <a:spcAft>
                <a:spcPts val="0"/>
              </a:spcAft>
            </a:pP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Tabiatd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ayd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uq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kl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5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54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suy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5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spc="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37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uyuq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lik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ru-RU" sz="2400" spc="37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‘t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7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37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37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ru-RU" sz="2400" spc="37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rn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38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‘rgani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hd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8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5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spc="5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</a:t>
            </a:r>
            <a:r>
              <a:rPr lang="ru-RU" sz="2400" spc="5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ili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ru-RU" sz="2400" spc="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2400" spc="5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</a:t>
            </a:r>
            <a:r>
              <a:rPr lang="ru-RU" sz="2400" spc="5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</a:t>
            </a:r>
            <a:r>
              <a:rPr lang="ru-RU" sz="2400" spc="5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salala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5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shd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5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muh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5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ru-RU" sz="2400" spc="5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ilm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dqi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5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4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5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qli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55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5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ila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abiatda</a:t>
            </a:r>
            <a:r>
              <a:rPr lang="ru-RU" sz="2400" spc="5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mavjud</a:t>
            </a:r>
            <a:r>
              <a:rPr lang="ru-RU" sz="2400" spc="51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o‘lm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gan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5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aq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5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siqilmaydigan</a:t>
            </a:r>
            <a:r>
              <a:rPr lang="ru-RU" sz="2400" spc="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5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ovush-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igi</a:t>
            </a:r>
            <a:r>
              <a:rPr lang="ru-RU" sz="2400" spc="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laqo</a:t>
            </a:r>
            <a:r>
              <a:rPr lang="ru-RU" sz="2400" spc="39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39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‘l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39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ru-RU" sz="2400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ru-RU" sz="2400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</a:t>
            </a:r>
            <a:r>
              <a:rPr lang="ru-RU" sz="2400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uq</a:t>
            </a:r>
            <a:r>
              <a:rPr lang="ru-RU" sz="2400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</a:t>
            </a:r>
            <a:r>
              <a:rPr lang="ru-RU" sz="2400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15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ru-RU" sz="2400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2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10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uy</a:t>
            </a:r>
            <a:r>
              <a:rPr lang="ru-RU" sz="2400" spc="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uql</a:t>
            </a:r>
            <a:r>
              <a:rPr lang="ru-RU" sz="2400" spc="15" dirty="0" err="1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dey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adi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271780" indent="252095" algn="just">
              <a:lnSpc>
                <a:spcPct val="107000"/>
              </a:lnSpc>
              <a:spcAft>
                <a:spcPts val="0"/>
              </a:spcAft>
            </a:pPr>
            <a:r>
              <a:rPr lang="ru-RU" sz="2400" spc="7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8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</a:t>
            </a:r>
            <a:r>
              <a:rPr lang="ru-RU" sz="2400" spc="4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</a:t>
            </a:r>
            <a:r>
              <a:rPr lang="ru-RU" sz="2400" spc="4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suvni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</a:t>
            </a:r>
            <a:r>
              <a:rPr lang="ru-RU" sz="2400" spc="4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dor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70,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ru-RU" sz="2400" spc="4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%</a:t>
            </a:r>
            <a:r>
              <a:rPr lang="ru-RU" sz="2400" spc="4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nl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</a:t>
            </a:r>
            <a:r>
              <a:rPr lang="ru-RU" sz="2400" spc="4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</a:t>
            </a:r>
            <a:r>
              <a:rPr lang="ru-RU" sz="2400" spc="-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2400" spc="-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37</a:t>
            </a:r>
            <a:r>
              <a:rPr lang="ru-RU" sz="2400" spc="-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032300</a:t>
            </a:r>
            <a:r>
              <a:rPr lang="ru-RU" sz="2400" spc="-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4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46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-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-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-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6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vla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ru-RU" sz="2400" spc="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614</a:t>
            </a:r>
            <a:r>
              <a:rPr lang="ru-RU" sz="2400" spc="-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000</a:t>
            </a:r>
            <a:r>
              <a:rPr lang="ru-RU" sz="2400" spc="-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-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4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1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m3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46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48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 </a:t>
            </a:r>
            <a:r>
              <a:rPr lang="ru-RU" sz="2400" spc="-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2400000</a:t>
            </a:r>
            <a:r>
              <a:rPr lang="ru-RU" sz="2400" spc="-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4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-1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47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-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o‘l</a:t>
            </a:r>
            <a:r>
              <a:rPr lang="ru-RU" sz="2400" spc="-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-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-1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ru-RU" sz="2400" spc="-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u-RU" sz="2400" spc="-4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5000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4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-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m3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4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ru-RU" sz="2400" spc="-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up</a:t>
            </a:r>
            <a:r>
              <a:rPr lang="ru-RU" sz="2400" spc="-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</a:t>
            </a:r>
            <a:r>
              <a:rPr lang="ru-RU" sz="2400" spc="4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-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uvl</a:t>
            </a:r>
            <a:r>
              <a:rPr lang="ru-RU" sz="2400" spc="-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-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u-RU" sz="2400" spc="-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500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43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1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-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1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ru-RU" sz="2400" spc="5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r>
              <a:rPr lang="ru-RU" sz="2400" spc="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spc="54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spc="4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4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400" spc="2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2400" spc="5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5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bo‘li</a:t>
            </a:r>
            <a:r>
              <a:rPr lang="ru-RU" sz="2400" spc="5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ru-RU" sz="2400" spc="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sz="2400" spc="55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nin</a:t>
            </a:r>
            <a:r>
              <a:rPr lang="ru-RU" sz="2400" spc="1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ru-RU" sz="2400" spc="56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2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sz="2400" spc="3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erdag</a:t>
            </a:r>
            <a:r>
              <a:rPr lang="ru-RU" sz="2400" spc="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56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2400" spc="35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xira</a:t>
            </a:r>
            <a:r>
              <a:rPr lang="ru-RU" sz="2400" spc="4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2400" spc="20" dirty="0" err="1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ru-RU" sz="2400" spc="4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</a:t>
            </a:r>
            <a:endParaRPr lang="ru-RU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75"/>
              </a:spcBef>
              <a:spcAft>
                <a:spcPts val="0"/>
              </a:spcAft>
            </a:pPr>
            <a:r>
              <a:rPr lang="ru-RU" sz="2400" spc="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2400" spc="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,3</a:t>
            </a:r>
            <a:r>
              <a:rPr lang="ru-RU" sz="2400" spc="2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·</a:t>
            </a:r>
            <a:r>
              <a:rPr lang="ru-RU" sz="2400" spc="3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2400" spc="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     </a:t>
            </a:r>
            <a:r>
              <a:rPr lang="ru-RU" sz="2400" spc="-10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spc="-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ru-RU" sz="2400" spc="15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24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946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426872C-2EE6-4F0E-9B6E-A27694537565}"/>
              </a:ext>
            </a:extLst>
          </p:cNvPr>
          <p:cNvSpPr/>
          <p:nvPr/>
        </p:nvSpPr>
        <p:spPr>
          <a:xfrm>
            <a:off x="2029968" y="1773936"/>
            <a:ext cx="77175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savollari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1.Gidravlika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fanining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vazifalarini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ta’riflab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2.Gidravlikaning fan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bo’lib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shakllanishida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olimlari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o’z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qo’shishgan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tuzilishi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jihatidan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qattiq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jismlardan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siqlmaydigan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qilingan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?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5.Syuqlik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fizik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xossalarga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suyuqlik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muayyan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geometric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shakilga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68316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2130</Words>
  <Application>Microsoft Office PowerPoint</Application>
  <PresentationFormat>Широкоэкранный</PresentationFormat>
  <Paragraphs>99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Hp</cp:lastModifiedBy>
  <cp:revision>4</cp:revision>
  <dcterms:created xsi:type="dcterms:W3CDTF">2025-09-09T07:01:42Z</dcterms:created>
  <dcterms:modified xsi:type="dcterms:W3CDTF">2026-01-26T10:34:48Z</dcterms:modified>
</cp:coreProperties>
</file>